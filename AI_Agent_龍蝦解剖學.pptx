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🦞 一次搞懂 AI Agent — 用龍蝦解剖學看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龍蝦沒有大腦，卻是最成功的生物之一 — AI Agent 也一樣：沒有內建智慧，靠外借大腦 + 精密結構 = 強大執行力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127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6675120" cy="301752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097280"/>
            <a:ext cx="6675120" cy="411480"/>
          </a:xfrm>
          <a:prstGeom prst="roundRect">
            <a:avLst>
              <a:gd name="adj" fmla="val 3000"/>
            </a:avLst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143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🦞 龍蝦的殼 = System Prompt（Agent 的 DNA）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CA5A5"/>
                </a:solidFill>
                <a:latin typeface="Microsoft JhengHei"/>
              </a:defRPr>
            </a:pPr>
            <a:r>
              <a:t>每次醒來都重讀一遍，「讀自己成為自己」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0020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600200"/>
            <a:ext cx="2057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165506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🪪 SOUL.md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1837944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8B5CF6"/>
                </a:solidFill>
                <a:latin typeface="Microsoft JhengHei"/>
              </a:defRPr>
            </a:pPr>
            <a:r>
              <a:t>靈魂 / 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002536"/>
            <a:ext cx="1911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定義 Agent 的個性、語氣、</a:t>
            </a:r>
            <a:br/>
            <a:r>
              <a:t>價值觀、行為底線。</a:t>
            </a:r>
            <a:br/>
            <a:r>
              <a:t>→ 就像龍蝦的「基因」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60020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1600200"/>
            <a:ext cx="2057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65506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🏷️ IDENTITY.md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1837944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06B6D4"/>
                </a:solidFill>
                <a:latin typeface="Microsoft JhengHei"/>
              </a:defRPr>
            </a:pPr>
            <a:r>
              <a:t>身份名片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2002536"/>
            <a:ext cx="1911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名字、頭像、Emoji。</a:t>
            </a:r>
            <a:br/>
            <a:r>
              <a:t>讓每個 Agent 有辨識度。</a:t>
            </a:r>
            <a:br/>
            <a:r>
              <a:t>→ 龍蝦的「外觀花紋」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60020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1600200"/>
            <a:ext cx="2057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165506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👤 USER.md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1837944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Microsoft JhengHei"/>
              </a:defRPr>
            </a:pPr>
            <a:r>
              <a:t>主人檔案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2" y="2002536"/>
            <a:ext cx="1911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記錄使用者偏好、背景。</a:t>
            </a:r>
            <a:br/>
            <a:r>
              <a:t>Agent 會客製化回應。</a:t>
            </a:r>
            <a:br/>
            <a:r>
              <a:t>→ 龍蝦認識飼主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2724912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2724912"/>
            <a:ext cx="2057400" cy="36576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3512" y="277977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📋 AGENTS.md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3512" y="2962656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3882F6"/>
                </a:solidFill>
                <a:latin typeface="Microsoft JhengHei"/>
              </a:defRPr>
            </a:pPr>
            <a:r>
              <a:t>操作手冊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3512" y="3127248"/>
            <a:ext cx="1911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行為規則、工作流程、</a:t>
            </a:r>
            <a:br/>
            <a:r>
              <a:t>可用 Tool 清單。</a:t>
            </a:r>
            <a:br/>
            <a:r>
              <a:t>→ 龍蝦的「神經節指令」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2724912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4920" y="2724912"/>
            <a:ext cx="2057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77977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🧠 MEMORY.md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2962656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59E0B"/>
                </a:solidFill>
                <a:latin typeface="Microsoft JhengHei"/>
              </a:defRPr>
            </a:pPr>
            <a:r>
              <a:t>長期記憶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2" y="3127248"/>
            <a:ext cx="1911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重要偏好、學到的經驗。</a:t>
            </a:r>
            <a:br/>
            <a:r>
              <a:t>每日記憶 → memory/日期.md</a:t>
            </a:r>
            <a:br/>
            <a:r>
              <a:t>→ 龍蝦的「肌肉記憶」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2724912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69480" y="2724912"/>
            <a:ext cx="20574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2632" y="277977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📦 TOOLS.md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2" y="2962656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EC4899"/>
                </a:solidFill>
                <a:latin typeface="Microsoft JhengHei"/>
              </a:defRPr>
            </a:pPr>
            <a:r>
              <a:t>環境設定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2" y="3127248"/>
            <a:ext cx="1911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哪些 Tool 可用、哪些 Skill</a:t>
            </a:r>
            <a:br/>
            <a:r>
              <a:t>已安裝、環境參數。</a:t>
            </a:r>
            <a:br/>
            <a:r>
              <a:t>→ 龍蝦的「棲息地適應」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109728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1170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Microsoft JhengHei"/>
              </a:defRPr>
            </a:pPr>
            <a:r>
              <a:t>📡 觸鬚 = 通訊頻道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14173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龍蝦靠觸鬚感知世界，Agent 靠頻道接收指令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JhengHei"/>
              </a:defRPr>
            </a:pPr>
            <a:r>
              <a:t>WhatsApp ✦ Slack ✦ Telegram</a:t>
            </a:r>
            <a:br/>
            <a:r>
              <a:t>Discord ✦ Signal ✦ iMessage</a:t>
            </a:r>
            <a:br/>
            <a:r>
              <a:t>Teams ✦ Line ✦ Web Chat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06B6D4"/>
                </a:solidFill>
                <a:latin typeface="Microsoft JhengHei"/>
              </a:defRPr>
            </a:pPr>
            <a:r>
              <a:t>→ 使用者在哪，Agent 就在哪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560320" y="1554480"/>
            <a:ext cx="228600" cy="18288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74320" y="265176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2724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Microsoft JhengHei"/>
              </a:defRPr>
            </a:pPr>
            <a:r>
              <a:t>🧠 外借大腦 = LLM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29718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龍蝦沒有集中大腦 — Agent 也沒有！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318211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Microsoft JhengHei"/>
              </a:rPr>
              <a:t>智慧來自外部 API 呼叫：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8B5CF6"/>
                </a:solidFill>
                <a:latin typeface="Microsoft JhengHei"/>
              </a:rPr>
              <a:t>Claude (Anthropic)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10B981"/>
                </a:solidFill>
                <a:latin typeface="Microsoft JhengHei"/>
              </a:rPr>
              <a:t>GPT-4o (OpenAI)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06B6D4"/>
                </a:solidFill>
                <a:latin typeface="Microsoft JhengHei"/>
              </a:rPr>
              <a:t>Gemini / 本地模型 (vLLM)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FACC15"/>
                </a:solidFill>
                <a:latin typeface="Microsoft JhengHei"/>
              </a:rPr>
              <a:t>→ 可隨時更換「大腦」！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560320" y="3200400"/>
            <a:ext cx="228600" cy="18288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01200" y="109728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10928" y="1170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Microsoft JhengHei"/>
              </a:defRPr>
            </a:pPr>
            <a:r>
              <a:t>🥚 繁殖 = 多代理協作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0928" y="14173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龍蝦能大量繁殖，Agent 也能！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160020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Microsoft JhengHei"/>
              </a:rPr>
              <a:t>主 Agent 可以分裂出子 Agent：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 b="0">
                <a:solidFill>
                  <a:srgbClr val="94A3B8"/>
                </a:solidFill>
                <a:latin typeface="Microsoft JhengHei"/>
              </a:rPr>
              <a:t>🔍 調研員 — 專責搜集資訊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 b="0">
                <a:solidFill>
                  <a:srgbClr val="94A3B8"/>
                </a:solidFill>
                <a:latin typeface="Microsoft JhengHei"/>
              </a:rPr>
              <a:t>✍️ 撰稿員 — 專責寫作產出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 b="0">
                <a:solidFill>
                  <a:srgbClr val="94A3B8"/>
                </a:solidFill>
                <a:latin typeface="Microsoft JhengHei"/>
              </a:rPr>
              <a:t>📊 分析員 — 專責資料分析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EC4899"/>
                </a:solidFill>
                <a:latin typeface="Microsoft JhengHei"/>
              </a:rPr>
              <a:t>→ 各司其職，完成後回報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372600" y="1554480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601200" y="265176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10928" y="2724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JhengHei"/>
              </a:defRPr>
            </a:pPr>
            <a:r>
              <a:t>🫁 消化系統 = RAG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10928" y="29718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Microsoft JhengHei"/>
              </a:defRPr>
            </a:pPr>
            <a:r>
              <a:t>把外部知識「消化」成可用資訊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0928" y="3154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Microsoft JhengHei"/>
              </a:rPr>
              <a:t>Retrieval-Augmented Generation：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 b="0">
                <a:solidFill>
                  <a:srgbClr val="94A3B8"/>
                </a:solidFill>
                <a:latin typeface="Microsoft JhengHei"/>
              </a:rPr>
              <a:t>1. 收到問題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 b="0">
                <a:solidFill>
                  <a:srgbClr val="94A3B8"/>
                </a:solidFill>
                <a:latin typeface="Microsoft JhengHei"/>
              </a:rPr>
              <a:t>2. 從知識庫「檢索」相關文件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50" b="0">
                <a:solidFill>
                  <a:srgbClr val="94A3B8"/>
                </a:solidFill>
                <a:latin typeface="Microsoft JhengHei"/>
              </a:rPr>
              <a:t>3. 餵給 LLM 生成精準回答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10B981"/>
                </a:solidFill>
                <a:latin typeface="Microsoft JhengHei"/>
              </a:rPr>
              <a:t>OpenClaw 用 Markdown 檔 + 向量搜尋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10B981"/>
                </a:solidFill>
                <a:latin typeface="Microsoft JhengHei"/>
              </a:rPr>
              <a:t>→ 不是背書，是「現查現答」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372600" y="3200400"/>
            <a:ext cx="22860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74320" y="4297680"/>
            <a:ext cx="3749039" cy="12801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" y="435254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Microsoft JhengHei"/>
              </a:defRPr>
            </a:pPr>
            <a:r>
              <a:t>🦀 鉗子 = Tools（器官）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" y="4590288"/>
            <a:ext cx="35661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決定 Agent「能不能」做某件事 — 沒有鉗子就抓不了東西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4048" y="4828032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" y="4846320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exec / bash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9768" y="4983480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執行系統指令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98448" y="4828032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44168" y="4846320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read / write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44168" y="4983480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讀寫檔案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12848" y="4828032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58568" y="4846320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web_search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58568" y="4983480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搜尋網路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127248" y="4828032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72968" y="4846320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web_fetch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72968" y="4983480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讀取網頁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84048" y="5175504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" y="5193792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browser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9768" y="5330952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操作瀏覽器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298448" y="5175504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44168" y="5193792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cron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44168" y="5330952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排程自動執行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212848" y="5175504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58568" y="5193792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memory_search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58568" y="5330952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搜尋記憶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127248" y="5175504"/>
            <a:ext cx="841248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72968" y="5193792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onsolas"/>
              </a:defRPr>
            </a:pPr>
            <a:r>
              <a:t>sessions_spawn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72968" y="5330952"/>
            <a:ext cx="7772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分裂子 Agent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06240" y="4297680"/>
            <a:ext cx="3840480" cy="12801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15968" y="43525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JhengHei"/>
              </a:defRPr>
            </a:pPr>
            <a:r>
              <a:t>🦿 腿 = Skills（教科書）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15968" y="4590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教 Agent「怎麼」組合 Tools 完成任務 — SKILL.md 定義每個技能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15968" y="4828032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61688" y="4846320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📧 Email 管理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61688" y="4983480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讀信、分類、草擬回覆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248656" y="4828032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94376" y="4846320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📅 行事曆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94376" y="4983480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查詢/建立/修改行程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181344" y="4828032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27064" y="4846320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📊 資料分析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27064" y="4983480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讀取 CSV、生成圖表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114032" y="4828032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59752" y="4846320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🔧 DevOps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59752" y="4983480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部署、監控、告警處理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15968" y="5175504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61688" y="5193792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📝 內容撰寫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61688" y="5330952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寫文章、社群貼文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248656" y="5175504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94376" y="5193792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💰 財務助理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94376" y="5330952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發票處理、報表整理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81344" y="5175504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27064" y="5193792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🔍 研究調查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27064" y="5330952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蒐集資料、競品分析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14032" y="5175504"/>
            <a:ext cx="868680" cy="310896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159752" y="5193792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🛒 電商管理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59752" y="5330952"/>
            <a:ext cx="8046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Microsoft JhengHei"/>
              </a:defRPr>
            </a:pPr>
            <a:r>
              <a:t>訂單追蹤、庫存查詢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229600" y="429768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39328" y="43525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🏪 ClawHub = 技能市集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39328" y="459028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13,700+ 社群技能，一鍵安裝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39328" y="4800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Microsoft JhengHei"/>
              </a:rPr>
              <a:t>就像 App Store / 外掛商城：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icrosoft JhengHei"/>
              </a:rPr>
              <a:t>✅ 免費公開、向量搜尋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icrosoft JhengHei"/>
              </a:rPr>
              <a:t>✅ 版本管理 (semver)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FCA5A5"/>
                </a:solidFill>
                <a:latin typeface="Microsoft JhengHei"/>
              </a:rPr>
              <a:t>⚠️ 12-20% 技能有安全風險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F59E0B"/>
                </a:solidFill>
                <a:latin typeface="Microsoft JhengHei"/>
              </a:rPr>
              <a:t>→ 務必審查原始碼再安裝！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74320" y="5715000"/>
            <a:ext cx="11612880" cy="10058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016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57698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💬 提示詞（Prompt）= 跟龍蝦說話的方式 — 你怎麼說，決定牠怎麼做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7200" y="6035040"/>
            <a:ext cx="2194560" cy="621792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0352" y="60624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DC2626"/>
                </a:solidFill>
                <a:latin typeface="Microsoft JhengHei"/>
              </a:defRPr>
            </a:pPr>
            <a:r>
              <a:t>System Prompt</a:t>
            </a:r>
            <a:br/>
            <a:r>
              <a:t>系統提示詞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0352" y="62910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Agent 的「出廠設定」</a:t>
            </a:r>
            <a:br/>
            <a:r>
              <a:t>SOUL.md + AGENTS.md</a:t>
            </a:r>
            <a:br/>
            <a:r>
              <a:t>每次對話自動注入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724912" y="6035040"/>
            <a:ext cx="2194560" cy="621792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98064" y="60624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06B6D4"/>
                </a:solidFill>
                <a:latin typeface="Microsoft JhengHei"/>
              </a:defRPr>
            </a:pPr>
            <a:r>
              <a:t>User Prompt</a:t>
            </a:r>
            <a:br/>
            <a:r>
              <a:t>使用者提示詞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98064" y="62910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你打的每一句話</a:t>
            </a:r>
            <a:br/>
            <a:r>
              <a:t>越具體 → 結果越精準</a:t>
            </a:r>
            <a:br/>
            <a:r>
              <a:t>「幫我整理」vs「幫我把...」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992624" y="6035040"/>
            <a:ext cx="2194560" cy="621792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065776" y="60624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10B981"/>
                </a:solidFill>
                <a:latin typeface="Microsoft JhengHei"/>
              </a:defRPr>
            </a:pPr>
            <a:r>
              <a:t>Few-shot 範例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65776" y="62910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給 Agent 看幾個範例</a:t>
            </a:r>
            <a:br/>
            <a:r>
              <a:t>「像這樣做：A→B」</a:t>
            </a:r>
            <a:br/>
            <a:r>
              <a:t>有範例學得快 10 倍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260336" y="6035040"/>
            <a:ext cx="2194560" cy="621792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33488" y="60624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8B5CF6"/>
                </a:solidFill>
                <a:latin typeface="Microsoft JhengHei"/>
              </a:defRPr>
            </a:pPr>
            <a:r>
              <a:t>Chain-of-Thought</a:t>
            </a:r>
            <a:br/>
            <a:r>
              <a:t>思維鏈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333488" y="62910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要求 Agent 一步步想</a:t>
            </a:r>
            <a:br/>
            <a:r>
              <a:t>「先分析→再決策→最後執行」</a:t>
            </a:r>
            <a:br/>
            <a:r>
              <a:t>減少幻覺，提升準確度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528048" y="6035040"/>
            <a:ext cx="2194560" cy="621792"/>
          </a:xfrm>
          <a:prstGeom prst="roundRect">
            <a:avLst>
              <a:gd name="adj" fmla="val 5000"/>
            </a:avLst>
          </a:prstGeom>
          <a:solidFill>
            <a:srgbClr val="1E2D4A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601200" y="60624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EF4444"/>
                </a:solidFill>
                <a:latin typeface="Microsoft JhengHei"/>
              </a:defRPr>
            </a:pPr>
            <a:r>
              <a:t>Tool Prompt</a:t>
            </a:r>
            <a:br/>
            <a:r>
              <a:t>工具調用提示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601200" y="62910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94A3B8"/>
                </a:solidFill>
                <a:latin typeface="Microsoft JhengHei"/>
              </a:defRPr>
            </a:pPr>
            <a:r>
              <a:t>Agent 自動判斷何時</a:t>
            </a:r>
            <a:br/>
            <a:r>
              <a:t>該調用哪個 Tool</a:t>
            </a:r>
            <a:br/>
            <a:r>
              <a:t>「需要搜尋 → web_search」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