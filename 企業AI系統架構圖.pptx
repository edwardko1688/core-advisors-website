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企業 AI 完整系統架構圖 — 從基礎設施到 Agent 編排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For AI Architects / CTO / Tech Leads  |  含 OSI 七層映射 · 資安 · 個資 · AI 治理 · Zero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822960" cy="5394960"/>
          </a:xfrm>
          <a:prstGeom prst="roundRect">
            <a:avLst>
              <a:gd name="adj" fmla="val 2000"/>
            </a:avLst>
          </a:prstGeom>
          <a:solidFill>
            <a:srgbClr val="101525"/>
          </a:solidFill>
          <a:ln w="635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9067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4A3B8"/>
                </a:solidFill>
                <a:latin typeface="Microsoft JhengHei"/>
              </a:defRPr>
            </a:pPr>
            <a:r>
              <a:t>OSI 七層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700" y="1097280"/>
            <a:ext cx="50800" cy="706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600" y="110998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8B5CF6"/>
                </a:solidFill>
                <a:latin typeface="Microsoft JhengHei"/>
              </a:defRPr>
            </a:pPr>
            <a:r>
              <a:t>L7 應用層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700" y="1828800"/>
            <a:ext cx="50800" cy="7061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600" y="184150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3882F6"/>
                </a:solidFill>
                <a:latin typeface="Microsoft JhengHei"/>
              </a:defRPr>
            </a:pPr>
            <a:r>
              <a:t>L6 表現層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" y="2560320"/>
            <a:ext cx="50800" cy="706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600" y="257302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0B981"/>
                </a:solidFill>
                <a:latin typeface="Microsoft JhengHei"/>
              </a:defRPr>
            </a:pPr>
            <a:r>
              <a:t>L5 會話層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700" y="3291840"/>
            <a:ext cx="50800" cy="706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600" y="330454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06B6D4"/>
                </a:solidFill>
                <a:latin typeface="Microsoft JhengHei"/>
              </a:defRPr>
            </a:pPr>
            <a:r>
              <a:t>L4 傳輸層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" y="4023360"/>
            <a:ext cx="50800" cy="706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00" y="403606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59E0B"/>
                </a:solidFill>
                <a:latin typeface="Microsoft JhengHei"/>
              </a:defRPr>
            </a:pPr>
            <a:r>
              <a:t>L3 網路層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700" y="4754880"/>
            <a:ext cx="50800" cy="7061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600" y="476758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ACC15"/>
                </a:solidFill>
                <a:latin typeface="Microsoft JhengHei"/>
              </a:defRPr>
            </a:pPr>
            <a:r>
              <a:t>L2 資料鏈路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" y="5486400"/>
            <a:ext cx="50800" cy="706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600" y="5499100"/>
            <a:ext cx="67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EC4899"/>
                </a:solidFill>
                <a:latin typeface="Microsoft JhengHei"/>
              </a:defRPr>
            </a:pPr>
            <a:r>
              <a:t>L1 實體層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868680"/>
            <a:ext cx="8412480" cy="804672"/>
          </a:xfrm>
          <a:prstGeom prst="roundRect">
            <a:avLst>
              <a:gd name="adj" fmla="val 2000"/>
            </a:avLst>
          </a:prstGeom>
          <a:solidFill>
            <a:srgbClr val="141E3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868680"/>
            <a:ext cx="45720" cy="8046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9067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Microsoft JhengHei"/>
              </a:defRPr>
            </a:pPr>
            <a:r>
              <a:t>L6｜應用整合層  Application &amp; Agent 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112471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7940" y="115011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AI Chat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7940" y="128930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企業級對話介面</a:t>
            </a:r>
            <a:br/>
            <a:r>
              <a:t>Web / Mobile / Embed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9272" y="112471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2772" y="115011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API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2772" y="128930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統一入口、Rate Limit</a:t>
            </a:r>
            <a:br/>
            <a:r>
              <a:t>API Key 管理、版本控制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4104" y="112471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7604" y="115011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Agent 編排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7604" y="128930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OpenClaw / LangGraph</a:t>
            </a:r>
            <a:br/>
            <a:r>
              <a:t>多代理協作、任務分派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8936" y="112471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436" y="115011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MCP 協定層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436" y="128930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模型↔工具統一介面</a:t>
            </a:r>
            <a:br/>
            <a:r>
              <a:t>10,000+ MCP Servers</a:t>
            </a:r>
          </a:p>
        </p:txBody>
      </p:sp>
      <p:sp>
        <p:nvSpPr>
          <p:cNvPr id="36" name="Isosceles Triangle 35"/>
          <p:cNvSpPr/>
          <p:nvPr/>
        </p:nvSpPr>
        <p:spPr>
          <a:xfrm rot="10800000">
            <a:off x="5257800" y="1655064"/>
            <a:ext cx="182880" cy="91440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43000" y="1746504"/>
            <a:ext cx="8412480" cy="804672"/>
          </a:xfrm>
          <a:prstGeom prst="roundRect">
            <a:avLst>
              <a:gd name="adj" fmla="val 2000"/>
            </a:avLst>
          </a:prstGeom>
          <a:solidFill>
            <a:srgbClr val="141E33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" y="1746504"/>
            <a:ext cx="45720" cy="80467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2728" y="178460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82F6"/>
                </a:solidFill>
                <a:latin typeface="Microsoft JhengHei"/>
              </a:defRPr>
            </a:pPr>
            <a:r>
              <a:t>L5｜AI 平台層  AI / ML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4440" y="2002536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7940" y="2027936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LLM Gateway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7940" y="2167128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模型路由、Fallback</a:t>
            </a:r>
            <a:br/>
            <a:r>
              <a:t>Token 預算、成本控制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19272" y="2002536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2772" y="2027936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Prompt 管理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2772" y="2167128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版本控制、A/B Test</a:t>
            </a:r>
            <a:br/>
            <a:r>
              <a:t>System Prompt Registry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04104" y="2002536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67604" y="2027936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RAG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7604" y="2167128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向量檢索 + 重排序</a:t>
            </a:r>
            <a:br/>
            <a:r>
              <a:t>Chunk 策略、知識更新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88936" y="2002536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436" y="2027936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MLOps / 模型倉庫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52436" y="2167128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模型版本、評估、部署</a:t>
            </a:r>
            <a:br/>
            <a:r>
              <a:t>CI/CD for ML Pipeline</a:t>
            </a:r>
          </a:p>
        </p:txBody>
      </p:sp>
      <p:sp>
        <p:nvSpPr>
          <p:cNvPr id="52" name="Isosceles Triangle 51"/>
          <p:cNvSpPr/>
          <p:nvPr/>
        </p:nvSpPr>
        <p:spPr>
          <a:xfrm rot="10800000">
            <a:off x="5257800" y="2532888"/>
            <a:ext cx="182880" cy="91440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43000" y="2624328"/>
            <a:ext cx="8412480" cy="804672"/>
          </a:xfrm>
          <a:prstGeom prst="roundRect">
            <a:avLst>
              <a:gd name="adj" fmla="val 2000"/>
            </a:avLst>
          </a:prstGeom>
          <a:solidFill>
            <a:srgbClr val="141E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3000" y="2624328"/>
            <a:ext cx="4572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52728" y="26624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Microsoft JhengHei"/>
              </a:defRPr>
            </a:pPr>
            <a:r>
              <a:t>L4｜資料平台層  Data Platform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34440" y="2880360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97940" y="2905760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資料中台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97940" y="3044952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統一資料標準</a:t>
            </a:r>
            <a:br/>
            <a:r>
              <a:t>資產目錄、品質監控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19272" y="2880360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82772" y="2905760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向量資料庫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2772" y="3044952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Pinecone / Weaviate</a:t>
            </a:r>
            <a:br/>
            <a:r>
              <a:t>語意搜尋、Embedding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04104" y="2880360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67604" y="2905760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資料湖 / 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67604" y="3044952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結構化 + 非結構化</a:t>
            </a:r>
            <a:br/>
            <a:r>
              <a:t>Delta Lake / Iceberg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88936" y="2880360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52436" y="2905760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ETL / 串流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2436" y="3044952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即時同步、CDC</a:t>
            </a:r>
            <a:br/>
            <a:r>
              <a:t>Kafka / Flink</a:t>
            </a:r>
          </a:p>
        </p:txBody>
      </p:sp>
      <p:sp>
        <p:nvSpPr>
          <p:cNvPr id="68" name="Isosceles Triangle 67"/>
          <p:cNvSpPr/>
          <p:nvPr/>
        </p:nvSpPr>
        <p:spPr>
          <a:xfrm rot="10800000">
            <a:off x="5257800" y="3410712"/>
            <a:ext cx="182880" cy="91440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143000" y="3502152"/>
            <a:ext cx="8412480" cy="804672"/>
          </a:xfrm>
          <a:prstGeom prst="roundRect">
            <a:avLst>
              <a:gd name="adj" fmla="val 2000"/>
            </a:avLst>
          </a:prstGeom>
          <a:solidFill>
            <a:srgbClr val="141E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43000" y="3502152"/>
            <a:ext cx="45720" cy="8046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52728" y="35402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Microsoft JhengHei"/>
              </a:defRPr>
            </a:pPr>
            <a:r>
              <a:t>L3｜網路安全層  Network &amp; Transport Security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34440" y="3758184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97940" y="3783584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Zero Trust 架構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97940" y="3922776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永不信任、持續驗證</a:t>
            </a:r>
            <a:br/>
            <a:r>
              <a:t>mTLS 服務間加密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19272" y="3758184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82772" y="3783584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WAF / DDoS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2772" y="3922776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Web 應用防火牆</a:t>
            </a:r>
            <a:br/>
            <a:r>
              <a:t>L7 攻擊防禦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04104" y="3758184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67604" y="3783584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API 安全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67604" y="3922776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OAuth 2.0 / OIDC</a:t>
            </a:r>
            <a:br/>
            <a:r>
              <a:t>JWT Token 驗證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88936" y="3758184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52436" y="3783584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網路分段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52436" y="3922776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VPC / Subnet 隔離</a:t>
            </a:r>
            <a:br/>
            <a:r>
              <a:t>微分段 + Service Mesh</a:t>
            </a:r>
          </a:p>
        </p:txBody>
      </p:sp>
      <p:sp>
        <p:nvSpPr>
          <p:cNvPr id="84" name="Isosceles Triangle 83"/>
          <p:cNvSpPr/>
          <p:nvPr/>
        </p:nvSpPr>
        <p:spPr>
          <a:xfrm rot="10800000">
            <a:off x="5257800" y="4288536"/>
            <a:ext cx="182880" cy="91440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143000" y="4379976"/>
            <a:ext cx="8412480" cy="804672"/>
          </a:xfrm>
          <a:prstGeom prst="roundRect">
            <a:avLst>
              <a:gd name="adj" fmla="val 2000"/>
            </a:avLst>
          </a:prstGeom>
          <a:solidFill>
            <a:srgbClr val="141E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43000" y="4379976"/>
            <a:ext cx="457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52728" y="44180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Microsoft JhengHei"/>
              </a:defRPr>
            </a:pPr>
            <a:r>
              <a:t>L2｜身份與存取層  IAM &amp; Access Control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234440" y="4636008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97940" y="4661408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IAM / SSO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97940" y="4800600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集中身份管理</a:t>
            </a:r>
            <a:br/>
            <a:r>
              <a:t>SAML / OIDC 整合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319272" y="4636008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82772" y="4661408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RBAC / ABAC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82772" y="4800600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角色 + 屬性權限控制</a:t>
            </a:r>
            <a:br/>
            <a:r>
              <a:t>最小權限原則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404104" y="4636008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67604" y="4661408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密鑰管理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67604" y="4800600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HSM / Vault</a:t>
            </a:r>
            <a:br/>
            <a:r>
              <a:t>API Key 輪換、加密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488936" y="4636008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52436" y="4661408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稽核日誌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52436" y="4800600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全操作留痕</a:t>
            </a:r>
            <a:br/>
            <a:r>
              <a:t>不可竄改的 Audit Trail</a:t>
            </a:r>
          </a:p>
        </p:txBody>
      </p:sp>
      <p:sp>
        <p:nvSpPr>
          <p:cNvPr id="100" name="Isosceles Triangle 99"/>
          <p:cNvSpPr/>
          <p:nvPr/>
        </p:nvSpPr>
        <p:spPr>
          <a:xfrm rot="10800000">
            <a:off x="5257800" y="5166360"/>
            <a:ext cx="182880" cy="91440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143000" y="5257800"/>
            <a:ext cx="8412480" cy="804672"/>
          </a:xfrm>
          <a:prstGeom prst="roundRect">
            <a:avLst>
              <a:gd name="adj" fmla="val 2000"/>
            </a:avLst>
          </a:prstGeom>
          <a:solidFill>
            <a:srgbClr val="141E33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43000" y="5257800"/>
            <a:ext cx="45720" cy="8046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2728" y="52959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Microsoft JhengHei"/>
              </a:defRPr>
            </a:pPr>
            <a:r>
              <a:t>L1｜基礎設施層  Infrastructure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234440" y="551383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97940" y="553923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雲端 / 混合雲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97940" y="567842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AWS / Azure / GCP</a:t>
            </a:r>
            <a:br/>
            <a:r>
              <a:t>多雲策略、地端備援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319272" y="551383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382772" y="553923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GPU 叢集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82772" y="567842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AI 推論 / 訓練</a:t>
            </a:r>
            <a:br/>
            <a:r>
              <a:t>NVIDIA A100/H100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04104" y="551383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67604" y="553923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容器編排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67604" y="567842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K8s / Docker</a:t>
            </a:r>
            <a:br/>
            <a:r>
              <a:t>自動擴縮、高可用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488936" y="5513832"/>
            <a:ext cx="2011680" cy="512064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381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436" y="5539232"/>
            <a:ext cx="1884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備份 / DR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52436" y="5678424"/>
            <a:ext cx="188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異地備援、RTO/RPO</a:t>
            </a:r>
            <a:br/>
            <a:r>
              <a:t>災難復原演練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646920" y="868680"/>
            <a:ext cx="2331720" cy="1291590"/>
          </a:xfrm>
          <a:prstGeom prst="roundRect">
            <a:avLst>
              <a:gd name="adj" fmla="val 3000"/>
            </a:avLst>
          </a:prstGeom>
          <a:solidFill>
            <a:srgbClr val="1A1215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23120" y="906780"/>
            <a:ext cx="220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Microsoft JhengHei"/>
              </a:defRPr>
            </a:pPr>
            <a:r>
              <a:t>🛡️ 資安防護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723120" y="1051560"/>
            <a:ext cx="2204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64748B"/>
                </a:solidFill>
                <a:latin typeface="Consolas"/>
              </a:defRPr>
            </a:pPr>
            <a:r>
              <a:t>Cybersecurity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23120" y="1188720"/>
            <a:ext cx="2179320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• Prompt Injection 偵測</a:t>
            </a:r>
            <a:br/>
            <a:r>
              <a:t>• Output 過濾 / 內容安全</a:t>
            </a:r>
            <a:br/>
            <a:r>
              <a:t>• 模型存取權限控管</a:t>
            </a:r>
            <a:br/>
            <a:r>
              <a:t>• DLP 資料外洩防護</a:t>
            </a:r>
            <a:br/>
            <a:r>
              <a:t>• SIEM / SOC 整合監控</a:t>
            </a:r>
            <a:br/>
            <a:r>
              <a:t>• 紅隊演練 / 滲透測試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646920" y="2233422"/>
            <a:ext cx="2331720" cy="1291590"/>
          </a:xfrm>
          <a:prstGeom prst="roundRect">
            <a:avLst>
              <a:gd name="adj" fmla="val 3000"/>
            </a:avLst>
          </a:prstGeom>
          <a:solidFill>
            <a:srgbClr val="1E18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23120" y="2271522"/>
            <a:ext cx="220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Microsoft JhengHei"/>
              </a:defRPr>
            </a:pPr>
            <a:r>
              <a:t>🔒 個資保護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723120" y="2416302"/>
            <a:ext cx="2204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64748B"/>
                </a:solidFill>
                <a:latin typeface="Consolas"/>
              </a:defRPr>
            </a:pPr>
            <a:r>
              <a:t>Privacy &amp; PII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723120" y="2553462"/>
            <a:ext cx="2179320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• PII 自動偵測 + 遮罩</a:t>
            </a:r>
            <a:br/>
            <a:r>
              <a:t>• 資料分級分類</a:t>
            </a:r>
            <a:br/>
            <a:r>
              <a:t>• 同意權管理 (Consent)</a:t>
            </a:r>
            <a:br/>
            <a:r>
              <a:t>• 資料在地化 (Residency)</a:t>
            </a:r>
            <a:br/>
            <a:r>
              <a:t>• 被遺忘權實作</a:t>
            </a:r>
            <a:br/>
            <a:r>
              <a:t>• 差分隱私 / 聯邦學習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646920" y="3598164"/>
            <a:ext cx="2331720" cy="1291590"/>
          </a:xfrm>
          <a:prstGeom prst="roundRect">
            <a:avLst>
              <a:gd name="adj" fmla="val 3000"/>
            </a:avLst>
          </a:prstGeom>
          <a:solidFill>
            <a:srgbClr val="1512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723120" y="3636264"/>
            <a:ext cx="220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Microsoft JhengHei"/>
              </a:defRPr>
            </a:pPr>
            <a:r>
              <a:t>🏛️ AI 治理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23120" y="3781044"/>
            <a:ext cx="2204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64748B"/>
                </a:solidFill>
                <a:latin typeface="Consolas"/>
              </a:defRPr>
            </a:pPr>
            <a:r>
              <a:t>AI Governance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723120" y="3918204"/>
            <a:ext cx="2179320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• 模型評估 &amp; 偏見檢測</a:t>
            </a:r>
            <a:br/>
            <a:r>
              <a:t>• 可解釋性 (XAI)</a:t>
            </a:r>
            <a:br/>
            <a:r>
              <a:t>• Human-in-the-Loop</a:t>
            </a:r>
            <a:br/>
            <a:r>
              <a:t>• 幻覺偵測 &amp; 事實查核</a:t>
            </a:r>
            <a:br/>
            <a:r>
              <a:t>• EU AI Act / 負責任 AI</a:t>
            </a:r>
            <a:br/>
            <a:r>
              <a:t>• 模型卡 &amp; 風險評級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646920" y="4962906"/>
            <a:ext cx="2331720" cy="1291590"/>
          </a:xfrm>
          <a:prstGeom prst="roundRect">
            <a:avLst>
              <a:gd name="adj" fmla="val 3000"/>
            </a:avLst>
          </a:prstGeom>
          <a:solidFill>
            <a:srgbClr val="0F1A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723120" y="5001006"/>
            <a:ext cx="220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Microsoft JhengHei"/>
              </a:defRPr>
            </a:pPr>
            <a:r>
              <a:t>📊 可觀測性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723120" y="5145786"/>
            <a:ext cx="2204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64748B"/>
                </a:solidFill>
                <a:latin typeface="Consolas"/>
              </a:defRPr>
            </a:pPr>
            <a:r>
              <a:t>Observability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723120" y="5282946"/>
            <a:ext cx="2179320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• Logs / Metrics / Traces</a:t>
            </a:r>
            <a:br/>
            <a:r>
              <a:t>• LLM Token 用量追蹤</a:t>
            </a:r>
            <a:br/>
            <a:r>
              <a:t>• 成本儀表板</a:t>
            </a:r>
            <a:br/>
            <a:r>
              <a:t>• Agent 執行軌跡</a:t>
            </a:r>
            <a:br/>
            <a:r>
              <a:t>• 異常偵測 &amp; 告警</a:t>
            </a:r>
            <a:br/>
            <a:r>
              <a:t>• SLA / SLO 監控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65760" y="6309360"/>
            <a:ext cx="2651760" cy="475488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41960" y="6334760"/>
            <a:ext cx="2524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Microsoft JhengHei"/>
              </a:defRPr>
            </a:pPr>
            <a:r>
              <a:t>🎯 核心原則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1960" y="6473952"/>
            <a:ext cx="252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Zero Trust + Defense in Depth</a:t>
            </a:r>
            <a:br/>
            <a:r>
              <a:t>永不信任、縱深防禦、最小權限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108960" y="6309360"/>
            <a:ext cx="2651760" cy="475488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185160" y="6334760"/>
            <a:ext cx="2524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8B5CF6"/>
                </a:solidFill>
                <a:latin typeface="Microsoft JhengHei"/>
              </a:defRPr>
            </a:pPr>
            <a:r>
              <a:t>🔄 AI 特有風險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85160" y="6473952"/>
            <a:ext cx="252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Prompt Injection · 幻覺 · 資料毒化</a:t>
            </a:r>
            <a:br/>
            <a:r>
              <a:t>模型偏見 · Token 濫用 · 供應鏈攻擊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852160" y="6309360"/>
            <a:ext cx="2651760" cy="475488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928360" y="6334760"/>
            <a:ext cx="2524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59E0B"/>
                </a:solidFill>
                <a:latin typeface="Microsoft JhengHei"/>
              </a:defRPr>
            </a:pPr>
            <a:r>
              <a:t>📋 合規框架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928360" y="6473952"/>
            <a:ext cx="252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ISO 27001 · SOC 2 · GDPR</a:t>
            </a:r>
            <a:br/>
            <a:r>
              <a:t>EU AI Act · NIST AI RMF · 個資法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595360" y="6309360"/>
            <a:ext cx="2651760" cy="475488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71560" y="6334760"/>
            <a:ext cx="2524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6B6D4"/>
                </a:solidFill>
                <a:latin typeface="Microsoft JhengHei"/>
              </a:defRPr>
            </a:pPr>
            <a:r>
              <a:t>⚡ 架構決策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71560" y="6473952"/>
            <a:ext cx="252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模型可替換（MCP）· 資料可攜</a:t>
            </a:r>
            <a:br/>
            <a:r>
              <a:t>基礎架構即程式碼 · 一切可稽核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