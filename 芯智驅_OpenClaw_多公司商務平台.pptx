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020" y="0"/>
            <a:ext cx="3413674" cy="685800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52340" y="91440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多公司商務發展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340" y="137160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與管理平台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340" y="201168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B0F0E0"/>
                </a:solidFill>
                <a:latin typeface="Calibri"/>
              </a:defRPr>
            </a:pPr>
            <a:r>
              <a:t>Multi-Company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340" y="228600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B0F0E0"/>
                </a:solidFill>
                <a:latin typeface="Calibri"/>
              </a:defRPr>
            </a:pPr>
            <a:r>
              <a:t>Business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340" y="5486400"/>
            <a:ext cx="2743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6000" b="0">
                <a:solidFill>
                  <a:srgbClr val="FFFFFF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芯智驅 × OpenClaw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2DD4A8"/>
                </a:solidFill>
                <a:latin typeface="Calibri"/>
              </a:defRPr>
            </a:pPr>
            <a:r>
              <a:t>XinDrive AI Business Development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8B9DAF"/>
                </a:solidFill>
                <a:latin typeface="Microsoft JhengHei"/>
              </a:defRPr>
            </a:pPr>
            <a:r>
              <a:t>不忘初心，AI倍增  |  LEAP 員工發展  |  多公司 SaaS 架構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2194560" cy="41148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54864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19202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驅・知 Learn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39" y="3840480"/>
            <a:ext cx="2194560" cy="41148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39" y="3840480"/>
            <a:ext cx="54864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840480"/>
            <a:ext cx="19202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驅・伴 Coach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59" y="3840480"/>
            <a:ext cx="2194560" cy="41148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59" y="3840480"/>
            <a:ext cx="54864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840480"/>
            <a:ext cx="19202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驅・效 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Edward Ko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406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8B9DAF"/>
                </a:solidFill>
                <a:latin typeface="Microsoft JhengHei"/>
              </a:defRPr>
            </a:pPr>
            <a:r>
              <a:t>IC 產業顧問 · AI 轉型專家 · OpenClaw 首席策略師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整合人才發展 × 業績管理的多公司 AI 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514600" cy="128016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514600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03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2DD4A8"/>
                </a:solidFill>
                <a:latin typeface="Calibri"/>
              </a:defRPr>
            </a:pPr>
            <a:r>
              <a:t>87%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企業面臨數位技能短缺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1554480"/>
            <a:ext cx="2514600" cy="128016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1554480"/>
            <a:ext cx="2514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737360"/>
            <a:ext cx="2103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286000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系統化培訓業績提升倍數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554480"/>
            <a:ext cx="2514600" cy="128016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554480"/>
            <a:ext cx="2514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37360"/>
            <a:ext cx="2103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59E0B"/>
                </a:solidFill>
                <a:latin typeface="Calibri"/>
              </a:defRPr>
            </a:pPr>
            <a:r>
              <a:t>250%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12 個月投資回報率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554480"/>
            <a:ext cx="2514600" cy="128016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554480"/>
            <a:ext cx="2514600" cy="54864"/>
          </a:xfrm>
          <a:prstGeom prst="rect">
            <a:avLst/>
          </a:prstGeom>
          <a:solidFill>
            <a:srgbClr val="E87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1737360"/>
            <a:ext cx="2103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E87B35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286000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人才是企業最大瓶頸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00400"/>
            <a:ext cx="10698480" cy="301752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200400"/>
            <a:ext cx="54864" cy="3017520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383280"/>
            <a:ext cx="1371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Microsoft JhengHei"/>
              </a:defRPr>
            </a:pPr>
            <a:r>
              <a:t>▸  平台定位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383280"/>
            <a:ext cx="8412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整合「數位員工發展 + CRM + 業績管理」的跨公司 AI 驅動 SaaS 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931920"/>
            <a:ext cx="1371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Microsoft JhengHei"/>
              </a:defRPr>
            </a:pPr>
            <a:r>
              <a:t>▸  核心引擎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931920"/>
            <a:ext cx="8412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OpenClaw AI 智能推薦 × LEAP 四階段框架 × 芯智驅三支柱模型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480560"/>
            <a:ext cx="1371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Microsoft JhengHei"/>
              </a:defRPr>
            </a:pPr>
            <a:r>
              <a:t>▸  多公司架構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480560"/>
            <a:ext cx="8412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支援集團/多公司管理，各公司獨立數據隔離，統一儀表板監控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029200"/>
            <a:ext cx="1371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Microsoft JhengHei"/>
              </a:defRPr>
            </a:pPr>
            <a:r>
              <a:t>▸  三大產業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029200"/>
            <a:ext cx="8412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IC 通路、智慧物流、通用數位轉型——一個平台服務多元產業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577840"/>
            <a:ext cx="1371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Microsoft JhengHei"/>
              </a:defRPr>
            </a:pPr>
            <a:r>
              <a:t>▸  商業模式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5577840"/>
            <a:ext cx="8412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培訓授權 + 陪跑教練 + 平台訂閱，三重營收引擎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SITUATION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E293B"/>
                </a:solidFill>
                <a:latin typeface="Microsoft JhengHei"/>
              </a:defRPr>
            </a:pPr>
            <a:r>
              <a:t>企業面臨的四大結構性挑戰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56032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5603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人才斷層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4884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技能差距持續擴大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60320"/>
            <a:ext cx="21945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21945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資深人員退休，經驗難以傳承。新人需 2-3 年才能獨立作戰。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06240"/>
            <a:ext cx="21945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21945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2563EB"/>
                </a:solidFill>
                <a:latin typeface="Microsoft JhengHei"/>
              </a:defRPr>
            </a:pPr>
            <a:r>
              <a:t>87%</a:t>
            </a:r>
            <a:br/>
            <a:r>
              <a:t>企業受影響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1554480"/>
            <a:ext cx="256032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1554480"/>
            <a:ext cx="2560320" cy="73152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49040" y="1828800"/>
            <a:ext cx="457200" cy="457200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1874519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82880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培訓碎片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14884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缺乏系統化方法論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0" y="2560320"/>
            <a:ext cx="21945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0" y="2743200"/>
            <a:ext cx="21945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培訓投入無法量化成效。缺乏 LEAP/MEDDIC 等結構化框架。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4206240"/>
            <a:ext cx="21945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4297680"/>
            <a:ext cx="21945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0D9B8A"/>
                </a:solidFill>
                <a:latin typeface="Microsoft JhengHei"/>
              </a:defRPr>
            </a:pPr>
            <a:r>
              <a:t>60%</a:t>
            </a:r>
            <a:br/>
            <a:r>
              <a:t>培訓浪費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554480"/>
            <a:ext cx="256032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55448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0" y="18288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874519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182880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工具割裂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214884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數據孤島無法整合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2560320"/>
            <a:ext cx="21945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743200"/>
            <a:ext cx="21945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CRM、LMS、HR 系統各自為政。跨部門協作效率低落。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206240"/>
            <a:ext cx="21945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297680"/>
            <a:ext cx="21945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45%</a:t>
            </a:r>
            <a:br/>
            <a:r>
              <a:t>效率損失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1554480"/>
            <a:ext cx="256032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35440" y="1554480"/>
            <a:ext cx="25603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18320" y="182880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1874519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182880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AI 焦慮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14884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數位轉型知道卻做不到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0" y="2560320"/>
            <a:ext cx="21945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2743200"/>
            <a:ext cx="21945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企業知道 AI 重要，但缺乏產業專屬的落地方案。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4206240"/>
            <a:ext cx="21945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4297680"/>
            <a:ext cx="21945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EF4444"/>
                </a:solidFill>
                <a:latin typeface="Microsoft JhengHei"/>
              </a:defRPr>
            </a:pPr>
            <a:r>
              <a:t>&lt;5%</a:t>
            </a:r>
            <a:br/>
            <a:r>
              <a:t>已導入 AI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6080760"/>
            <a:ext cx="98755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解方：一個整合「人才發展 + 業務管理 + AI 引擎」的多公司平台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INTEGRATED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LEAP × 芯智驅：雙引擎發展模型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DD4A8"/>
                </a:solidFill>
                <a:latin typeface="Microsoft JhengHei"/>
              </a:defRPr>
            </a:pPr>
            <a:r>
              <a:t>LEAP 員工發展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560320" cy="237744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25603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548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2563EB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4884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2316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2DD4A8"/>
                </a:solidFill>
                <a:latin typeface="Microsoft JhengHei"/>
              </a:defRPr>
            </a:pPr>
            <a:r>
              <a:t>學習診斷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2194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ADCFC"/>
                </a:solidFill>
                <a:latin typeface="Microsoft JhengHei"/>
              </a:defRPr>
            </a:pPr>
            <a:r>
              <a:t>技能差距分析</a:t>
            </a:r>
            <a:br/>
            <a:r>
              <a:t>職能矩陣建立</a:t>
            </a:r>
            <a:br/>
            <a:r>
              <a:t>個人發展計畫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7432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8B9D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920240"/>
            <a:ext cx="2560320" cy="237744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920240"/>
            <a:ext cx="2560320" cy="73152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2103120"/>
            <a:ext cx="548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0D9B8A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4884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Engage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42316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2DD4A8"/>
                </a:solidFill>
                <a:latin typeface="Microsoft JhengHei"/>
              </a:defRPr>
            </a:pPr>
            <a:r>
              <a:t>參與設計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834640"/>
            <a:ext cx="2194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ADCFC"/>
                </a:solidFill>
                <a:latin typeface="Microsoft JhengHei"/>
              </a:defRPr>
            </a:pPr>
            <a:r>
              <a:t>個人化學習路徑</a:t>
            </a:r>
            <a:br/>
            <a:r>
              <a:t>互動式培訓課程</a:t>
            </a:r>
            <a:br/>
            <a:r>
              <a:t>實戰演練模擬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7432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8B9D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920240"/>
            <a:ext cx="2560320" cy="237744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92024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103120"/>
            <a:ext cx="548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59E0B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14884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Accelerate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42316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2DD4A8"/>
                </a:solidFill>
                <a:latin typeface="Microsoft JhengHei"/>
              </a:defRPr>
            </a:pPr>
            <a:r>
              <a:t>加速培訓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834640"/>
            <a:ext cx="2194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ADCFC"/>
                </a:solidFill>
                <a:latin typeface="Microsoft JhengHei"/>
              </a:defRPr>
            </a:pPr>
            <a:r>
              <a:t>密集技能衝刺</a:t>
            </a:r>
            <a:br/>
            <a:r>
              <a:t>AI 輔助學習</a:t>
            </a:r>
            <a:br/>
            <a:r>
              <a:t>跨部門協作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7432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>
                <a:solidFill>
                  <a:srgbClr val="8B9D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920240"/>
            <a:ext cx="2560320" cy="237744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192024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2103120"/>
            <a:ext cx="5486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10B981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14884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242316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2DD4A8"/>
                </a:solidFill>
                <a:latin typeface="Microsoft JhengHei"/>
              </a:defRPr>
            </a:pPr>
            <a:r>
              <a:t>績效驗證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834640"/>
            <a:ext cx="21945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ADCFC"/>
                </a:solidFill>
                <a:latin typeface="Microsoft JhengHei"/>
              </a:defRPr>
            </a:pPr>
            <a:r>
              <a:t>ROI 量化分析</a:t>
            </a:r>
            <a:br/>
            <a:r>
              <a:t>能力認證考核</a:t>
            </a:r>
            <a:br/>
            <a:r>
              <a:t>持續改善循環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7200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DD4A8"/>
                </a:solidFill>
                <a:latin typeface="Microsoft JhengHei"/>
              </a:defRPr>
            </a:pPr>
            <a:r>
              <a:t>芯智驅三支柱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937760"/>
            <a:ext cx="3474720" cy="128016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93776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02920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驅・知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0749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563EB"/>
                </a:solidFill>
                <a:latin typeface="Microsoft JhengHei"/>
              </a:defRPr>
            </a:pPr>
            <a:r>
              <a:t>培訓體系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4406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ADCFC"/>
                </a:solidFill>
                <a:latin typeface="Microsoft JhengHei"/>
              </a:defRPr>
            </a:pPr>
            <a:r>
              <a:t>KM 知識管理 · 課程設計 · 技能評量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530352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8B9D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59" y="4937760"/>
            <a:ext cx="3474720" cy="128016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80559" y="4937760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59" y="502920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驅・伴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19" y="50749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0B981"/>
                </a:solidFill>
                <a:latin typeface="Microsoft JhengHei"/>
              </a:defRPr>
            </a:pPr>
            <a:r>
              <a:t>陪跑教練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59" y="54406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ADCFC"/>
                </a:solidFill>
                <a:latin typeface="Microsoft JhengHei"/>
              </a:defRPr>
            </a:pPr>
            <a:r>
              <a:t>AI Agent · GROW/MEDDIC · 實戰模擬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59" y="530352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8B9D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4937760"/>
            <a:ext cx="3474720" cy="128016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0" y="493776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8200" y="502920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驅・效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50749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59E0B"/>
                </a:solidFill>
                <a:latin typeface="Microsoft JhengHei"/>
              </a:defRPr>
            </a:pPr>
            <a:r>
              <a:t>業績倍增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54406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ADCFC"/>
                </a:solidFill>
                <a:latin typeface="Microsoft JhengHei"/>
              </a:defRPr>
            </a:pPr>
            <a:r>
              <a:t>CRM · Pipeline · KPI · 報表分析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E293B"/>
                </a:solidFill>
                <a:latin typeface="Microsoft JhengHei"/>
              </a:defRPr>
            </a:pPr>
            <a:r>
              <a:t>多公司 SaaS 架構：一個平台，多元企業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698480" cy="594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2743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集團管理控制台  Super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600200"/>
            <a:ext cx="54864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8B9DAF"/>
                </a:solidFill>
                <a:latin typeface="Microsoft JhengHei"/>
              </a:defRPr>
            </a:pPr>
            <a:r>
              <a:t>統一儀表板 · 跨公司報表 · 權限管理 · 計費管理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2514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2514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公司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2606040"/>
            <a:ext cx="100584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60604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IC 通路商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01752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2240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員工 120 人 · 課程 15 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520440"/>
            <a:ext cx="68580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2044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培訓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3520440"/>
            <a:ext cx="6858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52044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教練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3520440"/>
            <a:ext cx="6858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352044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CRM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39" y="2423160"/>
            <a:ext cx="2514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39" y="2423160"/>
            <a:ext cx="2514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99" y="26060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公司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606040"/>
            <a:ext cx="100584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260604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智慧物流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599" y="301752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599" y="3200400"/>
            <a:ext cx="2240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員工 80 人 · 課程 12 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599" y="3520440"/>
            <a:ext cx="68580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599" y="352044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培訓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3520440"/>
            <a:ext cx="6858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52044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教練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79" y="3520440"/>
            <a:ext cx="6858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79" y="352044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CRM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2423160"/>
            <a:ext cx="2514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59" y="2423160"/>
            <a:ext cx="2514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6060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公司 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59" y="2606040"/>
            <a:ext cx="100584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59" y="260604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製造業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301752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3200400"/>
            <a:ext cx="2240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員工 200 人 · 課程 18 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3520440"/>
            <a:ext cx="68580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52044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培訓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59" y="3520440"/>
            <a:ext cx="6858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59" y="352044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教練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1000" y="3520440"/>
            <a:ext cx="6858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352044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CRM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2423160"/>
            <a:ext cx="2514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98280" y="2423160"/>
            <a:ext cx="25146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26060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公司 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69880" y="2606040"/>
            <a:ext cx="100584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69880" y="260604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科技新創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301752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3200400"/>
            <a:ext cx="2240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員工 35 人 · 課程 8 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3520440"/>
            <a:ext cx="68580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5440" y="352044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培訓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12680" y="3520440"/>
            <a:ext cx="6858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12680" y="352044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教練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89919" y="3520440"/>
            <a:ext cx="6858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89919" y="3520440"/>
            <a:ext cx="685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Microsoft JhengHei"/>
              </a:defRPr>
            </a:pPr>
            <a:r>
              <a:t>CRM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4389120"/>
            <a:ext cx="10698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" y="452628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核心架構特性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5840" y="4892040"/>
            <a:ext cx="98755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5840" y="5074920"/>
            <a:ext cx="54864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88720" y="5074920"/>
            <a:ext cx="2103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資料隔離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88720" y="5394960"/>
            <a:ext cx="2103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每家公司數據完全隔離</a:t>
            </a:r>
            <a:br/>
            <a:r>
              <a:t>Row Level Security 確保安全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66160" y="5074920"/>
            <a:ext cx="54864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49039" y="5074920"/>
            <a:ext cx="2103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獨立客製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49039" y="5394960"/>
            <a:ext cx="2103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各公司可自訂課程/流程</a:t>
            </a:r>
            <a:br/>
            <a:r>
              <a:t>品牌白標支援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6479" y="5074920"/>
            <a:ext cx="54864" cy="109728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09359" y="5074920"/>
            <a:ext cx="2103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統一引擎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59" y="5394960"/>
            <a:ext cx="2103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OpenClaw AI 跨公司學習</a:t>
            </a:r>
            <a:br/>
            <a:r>
              <a:t>匿名化最佳實踐共享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799" y="5074920"/>
            <a:ext cx="54864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869679" y="5074920"/>
            <a:ext cx="2103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彈性計費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69679" y="5394960"/>
            <a:ext cx="2103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Microsoft JhengHei"/>
              </a:defRPr>
            </a:pPr>
            <a:r>
              <a:t>按人數/模組訂閱</a:t>
            </a:r>
            <a:br/>
            <a:r>
              <a:t>免費試用 → Pro → Enterprise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OpenClaw 智能推薦引擎 — AI 驅動的核心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474720" cy="237744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74720" cy="73152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智能技能匹配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310896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011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ADCFC"/>
                </a:solidFill>
                <a:latin typeface="Microsoft JhengHei"/>
              </a:defRPr>
            </a:pPr>
            <a:r>
              <a:t>根據員工現有能力與目標職位</a:t>
            </a:r>
            <a:br/>
            <a:r>
              <a:t>自動推薦最適學習路徑</a:t>
            </a:r>
            <a:br/>
            <a:r>
              <a:t>縮短 40% 培訓時間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377440"/>
            <a:ext cx="914400" cy="914400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23160"/>
            <a:ext cx="9144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40%</a:t>
            </a:r>
            <a:br/>
            <a:r>
              <a:t>縮短培訓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554480"/>
            <a:ext cx="3474720" cy="237744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554480"/>
            <a:ext cx="3474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83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自適應學習引擎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194560"/>
            <a:ext cx="310896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377440"/>
            <a:ext cx="2011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ADCFC"/>
                </a:solidFill>
                <a:latin typeface="Microsoft JhengHei"/>
              </a:defRPr>
            </a:pPr>
            <a:r>
              <a:t>即時追蹤學習進度</a:t>
            </a:r>
            <a:br/>
            <a:r>
              <a:t>動態調整課程難度</a:t>
            </a:r>
            <a:br/>
            <a:r>
              <a:t>確保最佳學習效果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377440"/>
            <a:ext cx="9144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423160"/>
            <a:ext cx="9144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92%</a:t>
            </a:r>
            <a:br/>
            <a:r>
              <a:t>完課率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554480"/>
            <a:ext cx="3474720" cy="237744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55448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7830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跨產業知識庫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194560"/>
            <a:ext cx="310896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377440"/>
            <a:ext cx="2011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ADCFC"/>
                </a:solidFill>
                <a:latin typeface="Microsoft JhengHei"/>
              </a:defRPr>
            </a:pPr>
            <a:r>
              <a:t>整合 IC 通路、智慧物流</a:t>
            </a:r>
            <a:br/>
            <a:r>
              <a:t>製造業最佳實踐</a:t>
            </a:r>
            <a:br/>
            <a:r>
              <a:t>情境化培訓內容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0" y="2377440"/>
            <a:ext cx="9144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2423160"/>
            <a:ext cx="9144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3x</a:t>
            </a:r>
            <a:br/>
            <a:r>
              <a:t>產業覆蓋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06240"/>
            <a:ext cx="10698480" cy="219456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206240"/>
            <a:ext cx="54864" cy="2194560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34340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DD4A8"/>
                </a:solidFill>
                <a:latin typeface="Microsoft JhengHei"/>
              </a:defRPr>
            </a:pPr>
            <a:r>
              <a:t>平台核心能力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75488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DD4A8"/>
                </a:solidFill>
                <a:latin typeface="Microsoft JhengHei"/>
              </a:defRPr>
            </a:pPr>
            <a:r>
              <a:t>●  通用 Agent 架構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754880"/>
            <a:ext cx="8046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可擴展的 AI 代理系統，支援多場景部署（銷售教練、採購助手、SCM 顧問）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138928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DD4A8"/>
                </a:solidFill>
                <a:latin typeface="Microsoft JhengHei"/>
              </a:defRPr>
            </a:pPr>
            <a:r>
              <a:t>●  七維度職能診斷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138928"/>
            <a:ext cx="8046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數位工具 · 數據分析 · AI 協作 · 資安合規 · 數位協作 · 創新思維 · 產業專業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522976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DD4A8"/>
                </a:solidFill>
                <a:latin typeface="Microsoft JhengHei"/>
              </a:defRPr>
            </a:pPr>
            <a:r>
              <a:t>●  即時分析儀表板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522976"/>
            <a:ext cx="8046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培訓 ROI、技能成長趨勢、差距預警、跨公司對標分析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907024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DD4A8"/>
                </a:solidFill>
                <a:latin typeface="Microsoft JhengHei"/>
              </a:defRPr>
            </a:pPr>
            <a:r>
              <a:t>●  API 整合能力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907024"/>
            <a:ext cx="8046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無縫對接 HR 系統、LMS、ERP、CRM，支援 SSO 單一登入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INDUSTRY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E293B"/>
                </a:solidFill>
                <a:latin typeface="Microsoft JhengHei"/>
              </a:defRPr>
            </a:pPr>
            <a:r>
              <a:t>三大產業客製化解決方案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4747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747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108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IC 通路產業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MEDDIC / SPIN 銷售方法論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Design-in 專案管理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BOM 分析與報價系統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4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CRM 數位化管理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原廠關係經營工具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庫存週轉率優化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86400"/>
            <a:ext cx="329184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2563EB"/>
                </a:solidFill>
                <a:latin typeface="Microsoft JhengHei"/>
              </a:defRPr>
            </a:pPr>
            <a:r>
              <a:t>適用：業務 · 採購 · 經營主管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1554480"/>
            <a:ext cx="34747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1554480"/>
            <a:ext cx="3474720" cy="73152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691640"/>
            <a:ext cx="3108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智慧物流發展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46888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IoT 感測器數據分析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97180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智慧倉儲管理系統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47472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路線優化與預測分析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97764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供應鏈可視化平台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48056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自動化揀貨系統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98348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S&amp;OP 需求預測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1999" y="5486400"/>
            <a:ext cx="329184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5532120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0D9B8A"/>
                </a:solidFill>
                <a:latin typeface="Microsoft JhengHei"/>
              </a:defRPr>
            </a:pPr>
            <a:r>
              <a:t>適用：物流專員 · 倉管 · 運輸調度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554480"/>
            <a:ext cx="34747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554480"/>
            <a:ext cx="34747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691640"/>
            <a:ext cx="31089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通用數位轉型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46888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數位辦公工具整合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97180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數據驅動決策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47472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AI 協作工作流程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97764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數位專案管理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48056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資安合規實務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98348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Microsoft JhengHei"/>
              </a:defRPr>
            </a:pPr>
            <a:r>
              <a:t>▸  領導力數位化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5486400"/>
            <a:ext cx="329184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5532120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59E0B"/>
                </a:solidFill>
                <a:latin typeface="Microsoft JhengHei"/>
              </a:defRPr>
            </a:pPr>
            <a:r>
              <a:t>適用：全體員工 · 部門主管 · HR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DD4A8"/>
                </a:solidFill>
                <a:latin typeface="Calibri"/>
              </a:defRPr>
            </a:pPr>
            <a:r>
              <a:t>ASSESSMENT &amp;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七維度職能診斷 × 多公司管理儀表板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303520" cy="475488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七維度數位職能診斷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103120"/>
            <a:ext cx="475488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數位工具應用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395728"/>
            <a:ext cx="2286000" cy="16459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0" y="2395728"/>
            <a:ext cx="1463040" cy="164592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56632" y="2359152"/>
            <a:ext cx="3657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2860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3.2/4.5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數據分析能力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2944368"/>
            <a:ext cx="2286000" cy="16459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2944368"/>
            <a:ext cx="128016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28032" y="2907792"/>
            <a:ext cx="3657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83464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2.8/4.0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8328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AI 協作能力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3493008"/>
            <a:ext cx="2286000" cy="16459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17520" y="3493008"/>
            <a:ext cx="960120" cy="1645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28032" y="3456432"/>
            <a:ext cx="3657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338328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2.1/4.0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93192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資安與合規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041648"/>
            <a:ext cx="2286000" cy="16459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17520" y="4041648"/>
            <a:ext cx="16002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56632" y="4005072"/>
            <a:ext cx="3657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393192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3.5/4.5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48056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數位協作溝通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4590288"/>
            <a:ext cx="2286000" cy="16459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17520" y="4590288"/>
            <a:ext cx="1737360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56632" y="4553712"/>
            <a:ext cx="3657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448056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3.8/4.5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02920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創新思維能力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5138928"/>
            <a:ext cx="2286000" cy="16459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17520" y="5138928"/>
            <a:ext cx="132588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28032" y="5102352"/>
            <a:ext cx="3657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50292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2.9/4.0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57784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產業專業能力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5687568"/>
            <a:ext cx="2286000" cy="16459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17520" y="5687568"/>
            <a:ext cx="1645919" cy="164592"/>
          </a:xfrm>
          <a:prstGeom prst="rect">
            <a:avLst/>
          </a:prstGeom>
          <a:solidFill>
            <a:srgbClr val="E87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56632" y="5650992"/>
            <a:ext cx="3657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557784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3.6/4.5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1554480"/>
            <a:ext cx="5029200" cy="475488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多公司管理儀表板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2103120"/>
            <a:ext cx="457200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228600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8B9DAF"/>
                </a:solidFill>
                <a:latin typeface="Calibri"/>
              </a:defRPr>
            </a:pPr>
            <a:r>
              <a:t>技能成熟度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260604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公司 A · IC 通路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78240" y="2697480"/>
            <a:ext cx="2011680" cy="182880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778240" y="2697480"/>
            <a:ext cx="156911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81360" y="2606040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2563EB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315468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公司 B · 物流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240" y="3246120"/>
            <a:ext cx="2011680" cy="182880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778240" y="3246120"/>
            <a:ext cx="1307592" cy="18288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81360" y="3154680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D9B8A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370332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公司 C · 製造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78240" y="3794759"/>
            <a:ext cx="2011680" cy="182880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0" y="3794759"/>
            <a:ext cx="1046073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81360" y="3703320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52%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425196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公司 D · 新創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78240" y="4343400"/>
            <a:ext cx="2011680" cy="182880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78240" y="4343400"/>
            <a:ext cx="1428292" cy="182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81360" y="4251960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71%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75120" y="4846320"/>
            <a:ext cx="4572000" cy="9144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502920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DD4A8"/>
                </a:solidFill>
                <a:latin typeface="Microsoft JhengHei"/>
              </a:defRPr>
            </a:pPr>
            <a:r>
              <a:t>跨公司 KPI 總覽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0" y="534924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總學員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0" y="55778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2DD4A8"/>
                </a:solidFill>
                <a:latin typeface="Calibri"/>
              </a:defRPr>
            </a:pPr>
            <a:r>
              <a:t>435 人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534924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完課率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55778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92%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84080" y="534924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B9DAF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557784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250%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2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600" b="1">
                <a:solidFill>
                  <a:srgbClr val="1E293B"/>
                </a:solidFill>
                <a:latin typeface="Microsoft JhengHei"/>
              </a:defRPr>
            </a:pPr>
            <a:r>
              <a:t>12 個月分階段實施路線圖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698480" cy="45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169164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25146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2514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514600"/>
            <a:ext cx="100584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第 1-2 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51460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啟動期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97180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需求訪談與職能盤點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技能診斷系統部署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多公司帳號建立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4632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LEAP 框架導入</a:t>
            </a:r>
          </a:p>
        </p:txBody>
      </p:sp>
      <p:sp>
        <p:nvSpPr>
          <p:cNvPr id="17" name="Oval 16"/>
          <p:cNvSpPr/>
          <p:nvPr/>
        </p:nvSpPr>
        <p:spPr>
          <a:xfrm>
            <a:off x="4526279" y="1691640"/>
            <a:ext cx="274320" cy="274320"/>
          </a:xfrm>
          <a:prstGeom prst="ellipse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39" y="2286000"/>
            <a:ext cx="25146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20439" y="2286000"/>
            <a:ext cx="2514600" cy="54864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599" y="2514600"/>
            <a:ext cx="1005840" cy="27432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9" y="251460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第 3-12 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51460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導入期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599" y="297180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599" y="320040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首批培訓課程上線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599" y="3749039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OpenClaw 平台啟用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599" y="429768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AI Agent 教練配對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599" y="484632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驅・知模組上線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0" y="169164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2286000"/>
            <a:ext cx="25146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2286000"/>
            <a:ext cx="2514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2514600"/>
            <a:ext cx="100584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251460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第 13-24 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19" y="251460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深化期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297180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20040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進階課程 + 陪跑執行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749039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CRM/Pipeline 整合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29768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中期 ROI 評估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84632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驅・伴 + 驅・效上線</a:t>
            </a:r>
          </a:p>
        </p:txBody>
      </p:sp>
      <p:sp>
        <p:nvSpPr>
          <p:cNvPr id="39" name="Oval 38"/>
          <p:cNvSpPr/>
          <p:nvPr/>
        </p:nvSpPr>
        <p:spPr>
          <a:xfrm>
            <a:off x="10104119" y="169164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98280" y="2286000"/>
            <a:ext cx="25146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2286000"/>
            <a:ext cx="2514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35440" y="2514600"/>
            <a:ext cx="100584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2514600"/>
            <a:ext cx="1005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第 25-52 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251460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成熟期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2971800"/>
            <a:ext cx="22402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40" y="320040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技能躍昇計畫啟動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749039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跨公司對標分析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429768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持續優化循環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846320"/>
            <a:ext cx="2240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E293B"/>
                </a:solidFill>
                <a:latin typeface="Microsoft JhengHei"/>
              </a:defRPr>
            </a:pPr>
            <a:r>
              <a:t>▸  年度 ROI 結算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88720" y="6153912"/>
            <a:ext cx="457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3M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60" y="6153912"/>
            <a:ext cx="1371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+15% 效率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6153912"/>
            <a:ext cx="457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1">
                <a:solidFill>
                  <a:srgbClr val="0D9B8A"/>
                </a:solidFill>
                <a:latin typeface="Calibri"/>
              </a:defRPr>
            </a:pPr>
            <a:r>
              <a:t>6M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6153912"/>
            <a:ext cx="1371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+120% ROI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6153912"/>
            <a:ext cx="457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9M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79" y="6153912"/>
            <a:ext cx="1371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+180% ROI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6153912"/>
            <a:ext cx="457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12M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6153912"/>
            <a:ext cx="1371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+250% ROI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3771" y="0"/>
            <a:ext cx="3047923" cy="685800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Microsoft JhengHei"/>
              </a:defRPr>
            </a:pPr>
            <a:r>
              <a:t>讓每位員工都成為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400" b="1">
                <a:solidFill>
                  <a:srgbClr val="2DD4A8"/>
                </a:solidFill>
                <a:latin typeface="Microsoft JhengHei"/>
              </a:defRPr>
            </a:pPr>
            <a:r>
              <a:t>數位時代的超級戰力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8B9DAF"/>
                </a:solidFill>
                <a:latin typeface="Microsoft JhengHei"/>
              </a:defRPr>
            </a:pPr>
            <a:r>
              <a:t>技能躍昇 · 業績倍增 · 從今天開始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83280"/>
            <a:ext cx="7315200" cy="54864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54864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30 年產業實戰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429000"/>
            <a:ext cx="4572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橫跨 IC 通路、智慧物流的深厚經驗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69080"/>
            <a:ext cx="7315200" cy="54864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69080"/>
            <a:ext cx="54864" cy="548640"/>
          </a:xfrm>
          <a:prstGeom prst="rect">
            <a:avLst/>
          </a:prstGeom>
          <a:solidFill>
            <a:srgbClr val="0D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AI 原生方法論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114800"/>
            <a:ext cx="4572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LEAP + OpenClaw + 芯智驅三引擎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754880"/>
            <a:ext cx="7315200" cy="54864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00600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量化成果導向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800600"/>
            <a:ext cx="4572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每個環節都有 KPI，ROI 看得見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440680"/>
            <a:ext cx="7315200" cy="548640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44068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86400"/>
            <a:ext cx="20116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陪跑式顧問服務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486400"/>
            <a:ext cx="4572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CADCFC"/>
                </a:solidFill>
                <a:latin typeface="Microsoft JhengHei"/>
              </a:defRPr>
            </a:pPr>
            <a:r>
              <a:t>不只給方案，全程陪跑到落地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091" y="137160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立即預約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091" y="182880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免費諮詢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091" y="2377440"/>
            <a:ext cx="2560320" cy="9144"/>
          </a:xfrm>
          <a:prstGeom prst="rect">
            <a:avLst/>
          </a:prstGeom>
          <a:solidFill>
            <a:srgbClr val="B0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091" y="265176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Edward Ko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091" y="3017520"/>
            <a:ext cx="2560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B0F0E0"/>
                </a:solidFill>
                <a:latin typeface="Calibri"/>
              </a:defRPr>
            </a:pPr>
            <a:r>
              <a:t>edwardko1688@gmail.com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091" y="338328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8B9DAF"/>
                </a:solidFill>
                <a:latin typeface="Microsoft JhengHei"/>
              </a:defRPr>
            </a:pPr>
            <a:r>
              <a:t>芯智驅 XinDrive AI</a:t>
            </a:r>
            <a:br/>
            <a:r>
              <a:t>× OpenClaw Consulting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091" y="4114800"/>
            <a:ext cx="2560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不忘初心</a:t>
            </a:r>
            <a:br/>
            <a:r>
              <a:t>AI倍增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091" y="502920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F0E0"/>
                </a:solidFill>
                <a:latin typeface="Microsoft JhengHei"/>
              </a:defRPr>
            </a:pPr>
            <a:r>
              <a:t>●  數位轉型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091" y="534924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F0E0"/>
                </a:solidFill>
                <a:latin typeface="Microsoft JhengHei"/>
              </a:defRPr>
            </a:pPr>
            <a:r>
              <a:t>●  人才發展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091" y="566928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F0E0"/>
                </a:solidFill>
                <a:latin typeface="Microsoft JhengHei"/>
              </a:defRPr>
            </a:pPr>
            <a:r>
              <a:t>●  AI 賦能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091" y="598932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B0F0E0"/>
                </a:solidFill>
                <a:latin typeface="Microsoft JhengHei"/>
              </a:defRPr>
            </a:pPr>
            <a:r>
              <a:t>●  多公司管理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8B9DAF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