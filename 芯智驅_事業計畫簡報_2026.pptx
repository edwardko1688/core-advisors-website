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020" y="0"/>
            <a:ext cx="3413674" cy="6858000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52340" y="91440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事 業 計 畫 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340" y="141732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0F0E0"/>
                </a:solidFill>
                <a:latin typeface="Calibri"/>
              </a:defRPr>
            </a:pPr>
            <a:r>
              <a:t>Business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340" y="210312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B0F0E0"/>
                </a:solidFill>
                <a:latin typeface="Calibri"/>
              </a:defRPr>
            </a:pPr>
            <a:r>
              <a:t>2026 — 2028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340" y="5486400"/>
            <a:ext cx="2743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6000" b="0">
                <a:solidFill>
                  <a:srgbClr val="FFFFFF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7315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800" b="1">
                <a:solidFill>
                  <a:srgbClr val="FFFFFF"/>
                </a:solidFill>
                <a:latin typeface="Microsoft JhengHei"/>
              </a:defRPr>
            </a:pPr>
            <a:r>
              <a:t>芯智驅 XinDrive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2DD4A8"/>
                </a:solidFill>
                <a:latin typeface="Microsoft JhengHei"/>
              </a:defRPr>
            </a:pPr>
            <a:r>
              <a:t>多公司 AI 驅動商務發展與人才管理平台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8B9DAF"/>
                </a:solidFill>
                <a:latin typeface="Microsoft JhengHei"/>
              </a:defRPr>
            </a:pPr>
            <a:r>
              <a:t>不忘初心，AI倍增  |  From IC Knowledge to Results — Powered by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74720"/>
            <a:ext cx="2286000" cy="45720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474720"/>
            <a:ext cx="54864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19202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驅・知 Learn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39" y="3474720"/>
            <a:ext cx="2286000" cy="45720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39" y="347472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474720"/>
            <a:ext cx="19202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驅・伴 Coach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59" y="3474720"/>
            <a:ext cx="2286000" cy="45720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59" y="347472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3474720"/>
            <a:ext cx="19202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驅・效 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創辦人：Alvin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4572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8B9DAF"/>
                </a:solidFill>
                <a:latin typeface="Calibri"/>
              </a:defRPr>
            </a:pPr>
            <a:r>
              <a:t>edwardko1688@gmail.com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49240"/>
            <a:ext cx="4572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8B9DAF"/>
                </a:solidFill>
                <a:latin typeface="Microsoft JhengHei"/>
              </a:defRPr>
            </a:pPr>
            <a:r>
              <a:t>IC 產業顧問 30 年  ·  AI 轉型專家  ·  OpenClaw 首席策略師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目 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DD4A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願景與使命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Vision &amp; 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DD4A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市場機會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60320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DD4A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2608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痛點分析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Pain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66159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DD4A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566159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解決方案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40479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Solution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DD4A8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0624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LEAP × 芯智驅框架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80559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Integrated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DD4A8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84632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產品架構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120640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Platform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399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DD4A8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486399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OpenClaw AI 引擎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760719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64592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DD4A8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164592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產業解決方案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920240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Industry Solutions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28600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DD4A8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28600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商業模式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560320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92608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DD4A8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292608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財務預測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200400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Financial Projections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66159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DD4A8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566159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實施路線圖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840479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20624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DD4A8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20624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團隊與組織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480559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Team &amp; Organization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84632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DD4A8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84632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競爭優勢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5120640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Competitive Advantage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45775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8B9DAF"/>
                </a:solidFill>
                <a:latin typeface="Calibri"/>
              </a:defRPr>
            </a:pPr>
            <a:r>
              <a:t>2 / 15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VISION &amp;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願景與使命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137160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4864" cy="1371600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DD4A8"/>
                </a:solidFill>
                <a:latin typeface="Microsoft JhengHei"/>
              </a:defRPr>
            </a:pPr>
            <a:r>
              <a:t>願 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9601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成為亞太區 IC 通路與製造業「AI 驅動人才發展 + 業績管理」的首選 SaaS 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10698480" cy="118872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200400"/>
            <a:ext cx="54864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563EB"/>
                </a:solidFill>
                <a:latin typeface="Microsoft JhengHei"/>
              </a:defRPr>
            </a:pPr>
            <a:r>
              <a:t>使 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11880"/>
            <a:ext cx="9601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CADCFC"/>
                </a:solidFill>
                <a:latin typeface="Microsoft JhengHei"/>
              </a:defRPr>
            </a:pPr>
            <a:r>
              <a:t>透過 LEAP 方法論 × OpenClaw AI 引擎 × 芯智驅三支柱，讓每一位員工都能在數位時代成為超級戰力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63440"/>
            <a:ext cx="2514600" cy="164592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663440"/>
            <a:ext cx="2514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2148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產業深根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12080"/>
            <a:ext cx="2148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30 年 IC 通路深耕</a:t>
            </a:r>
            <a:br/>
            <a:r>
              <a:t>真正懂產業的 AI 方案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39" y="4663440"/>
            <a:ext cx="2514600" cy="164592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39" y="4663440"/>
            <a:ext cx="2514600" cy="54864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4846320"/>
            <a:ext cx="2148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科技賦能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5212080"/>
            <a:ext cx="2148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OpenClaw AI 原生設計</a:t>
            </a:r>
            <a:br/>
            <a:r>
              <a:t>智能推薦 × 自適應學習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59" y="4663440"/>
            <a:ext cx="2514600" cy="164592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59" y="4663440"/>
            <a:ext cx="2514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846320"/>
            <a:ext cx="2148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成果導向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212080"/>
            <a:ext cx="2148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每個環節可量化</a:t>
            </a:r>
            <a:br/>
            <a:r>
              <a:t>250% ROI 實證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4663440"/>
            <a:ext cx="2514600" cy="164592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8280" y="4663440"/>
            <a:ext cx="2514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4846320"/>
            <a:ext cx="2148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陪跑到底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59" y="5212080"/>
            <a:ext cx="2148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顧問陪跑不只交付</a:t>
            </a:r>
            <a:br/>
            <a:r>
              <a:t>全程伴隨到落地成功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45775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8B9DAF"/>
                </a:solidFill>
                <a:latin typeface="Calibri"/>
              </a:defRPr>
            </a:pPr>
            <a:r>
              <a:t>3 / 15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E293B"/>
                </a:solidFill>
                <a:latin typeface="Microsoft JhengHei"/>
              </a:defRPr>
            </a:pPr>
            <a:r>
              <a:t>市場機會：千億級企業培訓 × AI 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2918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市場規模估算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57400"/>
            <a:ext cx="29260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486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8600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全球企業培訓市場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0604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USD $380B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69748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2028E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657600"/>
            <a:ext cx="548640" cy="548640"/>
          </a:xfrm>
          <a:prstGeom prst="ellipse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5486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65760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亞太 IC / 製造業培訓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977639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0D9B8A"/>
                </a:solidFill>
                <a:latin typeface="Calibri"/>
              </a:defRPr>
            </a:pPr>
            <a:r>
              <a:t>USD $12B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06908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2028E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02920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5486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02920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台灣 + 東南亞首年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34924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USD $5M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44068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1554480"/>
            <a:ext cx="71323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1691640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成長驅動力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2057400"/>
            <a:ext cx="65836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2286000"/>
            <a:ext cx="54864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228600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E293B"/>
                </a:solidFill>
                <a:latin typeface="Microsoft JhengHei"/>
              </a:defRPr>
            </a:pPr>
            <a:r>
              <a:t>AI 轉型浪潮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256032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4748B"/>
                </a:solidFill>
                <a:latin typeface="Microsoft JhengHei"/>
              </a:defRPr>
            </a:pPr>
            <a:r>
              <a:t>92% 企業計畫增加 AI 投資，但 &lt;5% 有落地方案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41280" y="2286000"/>
            <a:ext cx="91440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0" y="2286000"/>
            <a:ext cx="914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2563EB"/>
                </a:solidFill>
                <a:latin typeface="Microsoft JhengHei"/>
              </a:defRPr>
            </a:pPr>
            <a:r>
              <a:t>92%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3063240"/>
            <a:ext cx="54864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306324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E293B"/>
                </a:solidFill>
                <a:latin typeface="Microsoft JhengHei"/>
              </a:defRPr>
            </a:pPr>
            <a:r>
              <a:t>人才斷層危機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33756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4748B"/>
                </a:solidFill>
                <a:latin typeface="Microsoft JhengHei"/>
              </a:defRPr>
            </a:pPr>
            <a:r>
              <a:t>半導體產業人才缺口 10 萬人，培訓需求井噴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41280" y="3063240"/>
            <a:ext cx="91440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0" y="3063240"/>
            <a:ext cx="914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EF4444"/>
                </a:solidFill>
                <a:latin typeface="Microsoft JhengHei"/>
              </a:defRPr>
            </a:pPr>
            <a:r>
              <a:t>10萬+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384048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384048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E293B"/>
                </a:solidFill>
                <a:latin typeface="Microsoft JhengHei"/>
              </a:defRPr>
            </a:pPr>
            <a:r>
              <a:t>數位技能升級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11480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4748B"/>
                </a:solidFill>
                <a:latin typeface="Microsoft JhengHei"/>
              </a:defRPr>
            </a:pPr>
            <a:r>
              <a:t>87% 企業面臨數位技能短缺，培訓預算年增 25%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41280" y="3840480"/>
            <a:ext cx="91440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1280" y="3840480"/>
            <a:ext cx="914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59E0B"/>
                </a:solidFill>
                <a:latin typeface="Microsoft JhengHei"/>
              </a:defRPr>
            </a:pPr>
            <a:r>
              <a:t>87%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0560" y="4617720"/>
            <a:ext cx="54864" cy="640080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0" y="461772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E293B"/>
                </a:solidFill>
                <a:latin typeface="Microsoft JhengHei"/>
              </a:defRPr>
            </a:pPr>
            <a:r>
              <a:t>SaaS 訂閱趨勢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489204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4748B"/>
                </a:solidFill>
                <a:latin typeface="Microsoft JhengHei"/>
              </a:defRPr>
            </a:pPr>
            <a:r>
              <a:t>企業從傳統授權轉向雲端訂閱，CAGR 18%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41280" y="4617720"/>
            <a:ext cx="91440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41280" y="4617720"/>
            <a:ext cx="914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0D9B8A"/>
                </a:solidFill>
                <a:latin typeface="Microsoft JhengHei"/>
              </a:defRPr>
            </a:pPr>
            <a:r>
              <a:t>18%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80560" y="5394960"/>
            <a:ext cx="54864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0" y="539496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E293B"/>
                </a:solidFill>
                <a:latin typeface="Microsoft JhengHei"/>
              </a:defRPr>
            </a:pPr>
            <a:r>
              <a:t>多公司集團管理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56692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4748B"/>
                </a:solidFill>
                <a:latin typeface="Microsoft JhengHei"/>
              </a:defRPr>
            </a:pPr>
            <a:r>
              <a:t>中大型集團需要統一人才發展平台，市場空白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241280" y="5394960"/>
            <a:ext cx="91440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41280" y="5394960"/>
            <a:ext cx="914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8B5CF6"/>
                </a:solidFill>
                <a:latin typeface="Microsoft JhengHei"/>
              </a:defRPr>
            </a:pPr>
            <a:r>
              <a:t>Blue</a:t>
            </a:r>
            <a:br/>
            <a:r>
              <a:t>Ocean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45775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企業面臨的四大結構性挑戰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560320" cy="457200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25603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人才斷層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194560"/>
            <a:ext cx="15544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Microsoft JhengHei"/>
              </a:defRPr>
            </a:pPr>
            <a:r>
              <a:t>技能差距持續擴大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606040"/>
            <a:ext cx="2194560" cy="914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21945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資深人員退休，經驗難以傳承</a:t>
            </a:r>
            <a:br/>
            <a:r>
              <a:t>新人需 2-3 年才能獨立作戰</a:t>
            </a:r>
            <a:br/>
            <a:r>
              <a:t>產業知識無系統化保存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572000"/>
            <a:ext cx="219456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219456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87%</a:t>
            </a:r>
            <a:br/>
            <a:r>
              <a:t>受影響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1554480"/>
            <a:ext cx="2560320" cy="457200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6160" y="1554480"/>
            <a:ext cx="2560320" cy="73152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49040" y="1828800"/>
            <a:ext cx="457200" cy="457200"/>
          </a:xfrm>
          <a:prstGeom prst="ellipse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1874519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874519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培訓碎片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194560"/>
            <a:ext cx="15544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Microsoft JhengHei"/>
              </a:defRPr>
            </a:pPr>
            <a:r>
              <a:t>缺乏系統化方法論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40" y="2606040"/>
            <a:ext cx="2194560" cy="914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0" y="2788920"/>
            <a:ext cx="21945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培訓投入無法量化成效</a:t>
            </a:r>
            <a:br/>
            <a:r>
              <a:t>缺乏結構化框架（LEAP/MEDDIC）</a:t>
            </a:r>
            <a:br/>
            <a:r>
              <a:t>學習路徑無個人化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40" y="4572000"/>
            <a:ext cx="2194560" cy="1097280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0" y="4617720"/>
            <a:ext cx="219456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60%</a:t>
            </a:r>
            <a:br/>
            <a:r>
              <a:t>被浪費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554480"/>
            <a:ext cx="2560320" cy="457200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55448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0" y="182880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874519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1874519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工具割裂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2194560"/>
            <a:ext cx="15544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Microsoft JhengHei"/>
              </a:defRPr>
            </a:pPr>
            <a:r>
              <a:t>數據孤島難整合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2606040"/>
            <a:ext cx="2194560" cy="914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788920"/>
            <a:ext cx="21945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CRM、LMS、HR 各自為政</a:t>
            </a:r>
            <a:br/>
            <a:r>
              <a:t>跨部門協作效率低落</a:t>
            </a:r>
            <a:br/>
            <a:r>
              <a:t>管理者缺乏全局視角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572000"/>
            <a:ext cx="219456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617720"/>
            <a:ext cx="219456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45%</a:t>
            </a:r>
            <a:br/>
            <a:r>
              <a:t>效率損失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1554480"/>
            <a:ext cx="2560320" cy="457200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35440" y="1554480"/>
            <a:ext cx="25603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18320" y="182880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1874519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1874519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AI 焦慮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2194560"/>
            <a:ext cx="15544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Microsoft JhengHei"/>
              </a:defRPr>
            </a:pPr>
            <a:r>
              <a:t>知道卻做不到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18320" y="2606040"/>
            <a:ext cx="2194560" cy="914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0" y="2788920"/>
            <a:ext cx="21945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企業知道 AI 重要</a:t>
            </a:r>
            <a:br/>
            <a:r>
              <a:t>缺乏產業專屬落地方案</a:t>
            </a:r>
            <a:br/>
            <a:r>
              <a:t>導入成本高、風險大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20" y="4572000"/>
            <a:ext cx="2194560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0" y="4617720"/>
            <a:ext cx="219456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&lt;5%</a:t>
            </a:r>
            <a:br/>
            <a:r>
              <a:t>已導入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45775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8B9DAF"/>
                </a:solidFill>
                <a:latin typeface="Calibri"/>
              </a:defRPr>
            </a:pPr>
            <a:r>
              <a:t>5 / 15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E293B"/>
                </a:solidFill>
                <a:latin typeface="Microsoft JhengHei"/>
              </a:defRPr>
            </a:pPr>
            <a:r>
              <a:t>解決方案：一站式 AI 驅動商務發展平台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4864" cy="1097280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91640"/>
            <a:ext cx="9875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DD4A8"/>
                </a:solidFill>
                <a:latin typeface="Microsoft JhengHei"/>
              </a:defRPr>
            </a:pPr>
            <a:r>
              <a:t>芯智驅 XinDrive AI 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9875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整合「數位員工發展 + CRM + 業績管理」的跨公司 AI 驅動 SaaS 平台，一個平台解決人才、業務、管理三大挑戰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347472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34747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2563EB"/>
                </a:solidFill>
                <a:latin typeface="Microsoft JhengHei"/>
              </a:defRPr>
            </a:pPr>
            <a:r>
              <a:t>驅・知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15468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8B9DAF"/>
                </a:solidFill>
                <a:latin typeface="Calibri"/>
              </a:defRPr>
            </a:pPr>
            <a:r>
              <a:t>XinDrive 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E293B"/>
                </a:solidFill>
                <a:latin typeface="Microsoft JhengHei"/>
              </a:defRPr>
            </a:pPr>
            <a:r>
              <a:t>培訓體系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794760"/>
            <a:ext cx="31089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319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LEAP 四階段學習路徑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70831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OpenClaw AI 智能推薦課程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09744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七維度職能評估系統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48656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知識管理 × 經驗傳承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8756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線上 + 實體混合培訓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59" y="2926080"/>
            <a:ext cx="347472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59" y="292608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10896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10B981"/>
                </a:solidFill>
                <a:latin typeface="Microsoft JhengHei"/>
              </a:defRPr>
            </a:pPr>
            <a:r>
              <a:t>驅・伴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59" y="315468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8B9DAF"/>
                </a:solidFill>
                <a:latin typeface="Calibri"/>
              </a:defRPr>
            </a:pPr>
            <a:r>
              <a:t>XinDrive Coach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474720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E293B"/>
                </a:solidFill>
                <a:latin typeface="Microsoft JhengHei"/>
              </a:defRPr>
            </a:pPr>
            <a:r>
              <a:t>陪跑教練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3794760"/>
            <a:ext cx="31089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9319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AI Agent 虛擬教練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70831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GROW / MEDDIC / SPIN 方法論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809744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實戰模擬與角色扮演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248656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1:1 個人化指導計畫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68756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績效追蹤 × 回饋閉環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2926080"/>
            <a:ext cx="347472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292608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310896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59E0B"/>
                </a:solidFill>
                <a:latin typeface="Microsoft JhengHei"/>
              </a:defRPr>
            </a:pPr>
            <a:r>
              <a:t>驅・效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15468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8B9DAF"/>
                </a:solidFill>
                <a:latin typeface="Calibri"/>
              </a:defRPr>
            </a:pPr>
            <a:r>
              <a:t>XinDrive Boost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474720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E293B"/>
                </a:solidFill>
                <a:latin typeface="Microsoft JhengHei"/>
              </a:defRPr>
            </a:pPr>
            <a:r>
              <a:t>業績倍增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3794760"/>
            <a:ext cx="31089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39319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CRM 客戶管理系統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370831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Pipeline 商機追蹤看板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809744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KPI 儀表板 × 報表分析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248656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業績目標追蹤系統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68756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跨公司對標分析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45775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INTEGRATED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LEAP × 芯智驅：雙引擎發展模型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2DD4A8"/>
                </a:solidFill>
                <a:latin typeface="Microsoft JhengHei"/>
              </a:defRPr>
            </a:pPr>
            <a:r>
              <a:t>LEAP 員工發展框架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2560320" cy="228600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25603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548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2563EB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0312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377440"/>
            <a:ext cx="15544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2DD4A8"/>
                </a:solidFill>
                <a:latin typeface="Microsoft JhengHei"/>
              </a:defRPr>
            </a:pPr>
            <a:r>
              <a:t>學習診斷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21945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ADCFC"/>
                </a:solidFill>
                <a:latin typeface="Microsoft JhengHei"/>
              </a:defRPr>
            </a:pPr>
            <a:r>
              <a:t>技能差距分析</a:t>
            </a:r>
            <a:br/>
            <a:r>
              <a:t>職能矩陣建立</a:t>
            </a:r>
            <a:br/>
            <a:r>
              <a:t>個人發展計畫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65176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8B9DA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874519"/>
            <a:ext cx="2560320" cy="228600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874519"/>
            <a:ext cx="2560320" cy="73152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2057400"/>
            <a:ext cx="548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0D9B8A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10312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Engage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377440"/>
            <a:ext cx="15544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2DD4A8"/>
                </a:solidFill>
                <a:latin typeface="Microsoft JhengHei"/>
              </a:defRPr>
            </a:pPr>
            <a:r>
              <a:t>參與設計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743200"/>
            <a:ext cx="21945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ADCFC"/>
                </a:solidFill>
                <a:latin typeface="Microsoft JhengHei"/>
              </a:defRPr>
            </a:pPr>
            <a:r>
              <a:t>個人化學習路徑</a:t>
            </a:r>
            <a:br/>
            <a:r>
              <a:t>互動式培訓課程</a:t>
            </a:r>
            <a:br/>
            <a:r>
              <a:t>實戰演練模擬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65176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8B9DA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874519"/>
            <a:ext cx="2560320" cy="228600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874519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057400"/>
            <a:ext cx="548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59E0B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10312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Accelerate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377440"/>
            <a:ext cx="15544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2DD4A8"/>
                </a:solidFill>
                <a:latin typeface="Microsoft JhengHei"/>
              </a:defRPr>
            </a:pPr>
            <a:r>
              <a:t>加速培訓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743200"/>
            <a:ext cx="21945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ADCFC"/>
                </a:solidFill>
                <a:latin typeface="Microsoft JhengHei"/>
              </a:defRPr>
            </a:pPr>
            <a:r>
              <a:t>密集技能衝刺</a:t>
            </a:r>
            <a:br/>
            <a:r>
              <a:t>AI 輔助學習</a:t>
            </a:r>
            <a:br/>
            <a:r>
              <a:t>跨部門協作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265176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8B9DA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1874519"/>
            <a:ext cx="2560320" cy="228600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1874519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2057400"/>
            <a:ext cx="548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10B981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10312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Perform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2377440"/>
            <a:ext cx="15544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2DD4A8"/>
                </a:solidFill>
                <a:latin typeface="Microsoft JhengHei"/>
              </a:defRPr>
            </a:pPr>
            <a:r>
              <a:t>績效驗證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2743200"/>
            <a:ext cx="21945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ADCFC"/>
                </a:solidFill>
                <a:latin typeface="Microsoft JhengHei"/>
              </a:defRPr>
            </a:pPr>
            <a:r>
              <a:t>ROI 量化分析</a:t>
            </a:r>
            <a:br/>
            <a:r>
              <a:t>能力認證考核</a:t>
            </a:r>
            <a:br/>
            <a:r>
              <a:t>持續改善循環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25196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2DD4A8"/>
                </a:solidFill>
                <a:latin typeface="Microsoft JhengHei"/>
              </a:defRPr>
            </a:pPr>
            <a:r>
              <a:t>⇩  融合對應  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61772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2DD4A8"/>
                </a:solidFill>
                <a:latin typeface="Microsoft JhengHei"/>
              </a:defRPr>
            </a:pPr>
            <a:r>
              <a:t>芯智驅三支柱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937760"/>
            <a:ext cx="3474720" cy="128016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493776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02920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驅・知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507492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563EB"/>
                </a:solidFill>
                <a:latin typeface="Microsoft JhengHei"/>
              </a:defRPr>
            </a:pPr>
            <a:r>
              <a:t>培訓體系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44068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ADCFC"/>
                </a:solidFill>
                <a:latin typeface="Microsoft JhengHei"/>
              </a:defRPr>
            </a:pPr>
            <a:r>
              <a:t>KM 知識管理 · 課程設計 · 技能評量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60520" y="530352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8B9DA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0559" y="4937760"/>
            <a:ext cx="3474720" cy="128016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80559" y="4937760"/>
            <a:ext cx="73152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09159" y="502920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驅・伴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19" y="507492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0B981"/>
                </a:solidFill>
                <a:latin typeface="Microsoft JhengHei"/>
              </a:defRPr>
            </a:pPr>
            <a:r>
              <a:t>陪跑教練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59" y="544068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ADCFC"/>
                </a:solidFill>
                <a:latin typeface="Microsoft JhengHei"/>
              </a:defRPr>
            </a:pPr>
            <a:r>
              <a:t>AI Agent · GROW/MEDDIC · 實戰模擬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59" y="530352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8B9DA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4937760"/>
            <a:ext cx="3474720" cy="128016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9600" y="4937760"/>
            <a:ext cx="73152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58200" y="502920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驅・效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507492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59E0B"/>
                </a:solidFill>
                <a:latin typeface="Microsoft JhengHei"/>
              </a:defRPr>
            </a:pPr>
            <a:r>
              <a:t>業績倍增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544068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ADCFC"/>
                </a:solidFill>
                <a:latin typeface="Microsoft JhengHei"/>
              </a:defRPr>
            </a:pPr>
            <a:r>
              <a:t>CRM · Pipeline · KPI · 報表分析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45775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8B9DAF"/>
                </a:solidFill>
                <a:latin typeface="Calibri"/>
              </a:defRPr>
            </a:pPr>
            <a:r>
              <a:t>7 / 15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E293B"/>
                </a:solidFill>
                <a:latin typeface="Microsoft JhengHei"/>
              </a:defRPr>
            </a:pPr>
            <a:r>
              <a:t>多公司 SaaS 架構：一個平台，多元企業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32004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集團管理控制台  Super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600200"/>
            <a:ext cx="59436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8B9DAF"/>
                </a:solidFill>
                <a:latin typeface="Microsoft JhengHei"/>
              </a:defRPr>
            </a:pPr>
            <a:r>
              <a:t>統一儀表板 · 跨公司報表 · 權限管理 · 計費管理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25146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2514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公司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2606040"/>
            <a:ext cx="100584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606040"/>
            <a:ext cx="1005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IC 通路商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017520"/>
            <a:ext cx="22402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54680"/>
            <a:ext cx="2240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Microsoft JhengHei"/>
              </a:defRPr>
            </a:pPr>
            <a:r>
              <a:t>120 人 · 15 課程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474720"/>
            <a:ext cx="685800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74720"/>
            <a:ext cx="685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培訓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3474720"/>
            <a:ext cx="68580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474720"/>
            <a:ext cx="685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教練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3474720"/>
            <a:ext cx="6858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23160" y="3474720"/>
            <a:ext cx="685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CRM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39" y="2423160"/>
            <a:ext cx="25146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39" y="2423160"/>
            <a:ext cx="2514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599" y="26060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公司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2606040"/>
            <a:ext cx="100584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2606040"/>
            <a:ext cx="1005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智慧物流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599" y="3017520"/>
            <a:ext cx="22402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599" y="3154680"/>
            <a:ext cx="2240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Microsoft JhengHei"/>
              </a:defRPr>
            </a:pPr>
            <a:r>
              <a:t>80 人 · 12 課程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599" y="3474720"/>
            <a:ext cx="685800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599" y="3474720"/>
            <a:ext cx="685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培訓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3474720"/>
            <a:ext cx="68580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3474720"/>
            <a:ext cx="685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教練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79" y="3474720"/>
            <a:ext cx="6858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79" y="3474720"/>
            <a:ext cx="685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CRM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2423160"/>
            <a:ext cx="25146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59" y="2423160"/>
            <a:ext cx="2514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6060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公司 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59" y="2606040"/>
            <a:ext cx="100584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59" y="2606040"/>
            <a:ext cx="1005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製造業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3017520"/>
            <a:ext cx="22402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3154680"/>
            <a:ext cx="2240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Microsoft JhengHei"/>
              </a:defRPr>
            </a:pPr>
            <a:r>
              <a:t>200 人 · 18 課程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3474720"/>
            <a:ext cx="685800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474720"/>
            <a:ext cx="685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培訓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759" y="3474720"/>
            <a:ext cx="68580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59" y="3474720"/>
            <a:ext cx="685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教練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01000" y="3474720"/>
            <a:ext cx="6858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1000" y="3474720"/>
            <a:ext cx="685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CRM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98280" y="2423160"/>
            <a:ext cx="25146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98280" y="2423160"/>
            <a:ext cx="25146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26060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公司 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69880" y="2606040"/>
            <a:ext cx="1005840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69880" y="2606040"/>
            <a:ext cx="1005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科技新創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35440" y="3017520"/>
            <a:ext cx="22402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5440" y="3154680"/>
            <a:ext cx="2240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Microsoft JhengHei"/>
              </a:defRPr>
            </a:pPr>
            <a:r>
              <a:t>35 人 · 8 課程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35440" y="3474720"/>
            <a:ext cx="685800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35440" y="3474720"/>
            <a:ext cx="685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培訓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12680" y="3474720"/>
            <a:ext cx="68580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12680" y="3474720"/>
            <a:ext cx="685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教練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789919" y="3474720"/>
            <a:ext cx="6858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789919" y="3474720"/>
            <a:ext cx="685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CRM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4297680"/>
            <a:ext cx="106984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44348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技術架構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" y="4754880"/>
            <a:ext cx="102412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4400" y="4892040"/>
            <a:ext cx="54864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88720" y="4892040"/>
            <a:ext cx="10972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2563EB"/>
                </a:solidFill>
                <a:latin typeface="Microsoft JhengHei"/>
              </a:defRPr>
            </a:pPr>
            <a:r>
              <a:t>前端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77440" y="4892040"/>
            <a:ext cx="8412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64748B"/>
                </a:solidFill>
                <a:latin typeface="Microsoft JhengHei"/>
              </a:defRPr>
            </a:pPr>
            <a:r>
              <a:t>Vanilla JS SPA · h() DOM Helper · Hash Router · CSS Variables · RWD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0" y="5257800"/>
            <a:ext cx="54864" cy="320040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88720" y="5257800"/>
            <a:ext cx="10972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0D9B8A"/>
                </a:solidFill>
                <a:latin typeface="Microsoft JhengHei"/>
              </a:defRPr>
            </a:pPr>
            <a:r>
              <a:t>後端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77440" y="5257800"/>
            <a:ext cx="8412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64748B"/>
                </a:solidFill>
                <a:latin typeface="Microsoft JhengHei"/>
              </a:defRPr>
            </a:pPr>
            <a:r>
              <a:t>Supabase (PostgreSQL + Auth + REST API + Realtime + Storage)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4400" y="5623559"/>
            <a:ext cx="54864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88720" y="5623559"/>
            <a:ext cx="10972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EF4444"/>
                </a:solidFill>
                <a:latin typeface="Microsoft JhengHei"/>
              </a:defRPr>
            </a:pPr>
            <a:r>
              <a:t>安全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77440" y="5623559"/>
            <a:ext cx="8412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64748B"/>
                </a:solidFill>
                <a:latin typeface="Microsoft JhengHei"/>
              </a:defRPr>
            </a:pPr>
            <a:r>
              <a:t>Row Level Security · JWT Auth · Per-tenant Data Isolation · RBAC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4400" y="5989320"/>
            <a:ext cx="54864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88720" y="5989320"/>
            <a:ext cx="10972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F59E0B"/>
                </a:solidFill>
                <a:latin typeface="Microsoft JhengHei"/>
              </a:defRPr>
            </a:pPr>
            <a:r>
              <a:t>AI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77440" y="5989320"/>
            <a:ext cx="8412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64748B"/>
                </a:solidFill>
                <a:latin typeface="Microsoft JhengHei"/>
              </a:defRPr>
            </a:pPr>
            <a:r>
              <a:t>OpenClaw Engine · Skill Matching · Adaptive Learning · Cross-industry KB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45775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OpenClaw 智能推薦引擎 — AI 驅動的核心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474720" cy="228600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474720" cy="73152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智能技能匹配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94560"/>
            <a:ext cx="3108960" cy="914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0116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CADCFC"/>
                </a:solidFill>
                <a:latin typeface="Microsoft JhengHei"/>
              </a:defRPr>
            </a:pPr>
            <a:r>
              <a:t>根據員工現有能力與目標職位</a:t>
            </a:r>
            <a:br/>
            <a:r>
              <a:t>自動推薦最適學習路徑</a:t>
            </a:r>
            <a:br/>
            <a:r>
              <a:t>縮短 40% 培訓時間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2331720"/>
            <a:ext cx="914400" cy="914400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377440"/>
            <a:ext cx="9144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40%</a:t>
            </a:r>
            <a:br/>
            <a:r>
              <a:t>縮短培訓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1554480"/>
            <a:ext cx="3474720" cy="228600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554480"/>
            <a:ext cx="34747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7830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自適應學習引擎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194560"/>
            <a:ext cx="3108960" cy="914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331720"/>
            <a:ext cx="20116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CADCFC"/>
                </a:solidFill>
                <a:latin typeface="Microsoft JhengHei"/>
              </a:defRPr>
            </a:pPr>
            <a:r>
              <a:t>即時追蹤學習進度</a:t>
            </a:r>
            <a:br/>
            <a:r>
              <a:t>動態調整課程難度</a:t>
            </a:r>
            <a:br/>
            <a:r>
              <a:t>確保最佳學習效果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331720"/>
            <a:ext cx="9144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377440"/>
            <a:ext cx="9144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92%</a:t>
            </a:r>
            <a:br/>
            <a:r>
              <a:t>完課率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554480"/>
            <a:ext cx="3474720" cy="228600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554480"/>
            <a:ext cx="34747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7830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跨產業知識庫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2194560"/>
            <a:ext cx="3108960" cy="914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331720"/>
            <a:ext cx="20116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CADCFC"/>
                </a:solidFill>
                <a:latin typeface="Microsoft JhengHei"/>
              </a:defRPr>
            </a:pPr>
            <a:r>
              <a:t>整合 IC 通路、智慧物流</a:t>
            </a:r>
            <a:br/>
            <a:r>
              <a:t>製造業最佳實踐</a:t>
            </a:r>
            <a:br/>
            <a:r>
              <a:t>情境化培訓內容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07040" y="2331720"/>
            <a:ext cx="91440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0" y="2377440"/>
            <a:ext cx="9144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3x</a:t>
            </a:r>
            <a:br/>
            <a:r>
              <a:t>產業覆蓋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114800"/>
            <a:ext cx="10698480" cy="228600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114800"/>
            <a:ext cx="54864" cy="2286000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251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2DD4A8"/>
                </a:solidFill>
                <a:latin typeface="Microsoft JhengHei"/>
              </a:defRPr>
            </a:pPr>
            <a:r>
              <a:t>七維度數位職能診斷系統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66344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數位工具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4718303"/>
            <a:ext cx="1828800" cy="128016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0" y="4718303"/>
            <a:ext cx="1170432" cy="128016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13632" y="4690872"/>
            <a:ext cx="36576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4663440"/>
            <a:ext cx="548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8B9DAF"/>
                </a:solidFill>
                <a:latin typeface="Calibri"/>
              </a:defRPr>
            </a:pPr>
            <a:r>
              <a:t>3.2/4.5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901183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數據分析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4956047"/>
            <a:ext cx="1828800" cy="128016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86000" y="4956047"/>
            <a:ext cx="1024127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0752" y="4928616"/>
            <a:ext cx="36576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4901183"/>
            <a:ext cx="548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8B9DAF"/>
                </a:solidFill>
                <a:latin typeface="Calibri"/>
              </a:defRPr>
            </a:pPr>
            <a:r>
              <a:t>2.8/4.0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138927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AI 協作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5193791"/>
            <a:ext cx="1828800" cy="128016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86000" y="5193791"/>
            <a:ext cx="768096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730752" y="5166359"/>
            <a:ext cx="36576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0" y="5138927"/>
            <a:ext cx="548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8B9DAF"/>
                </a:solidFill>
                <a:latin typeface="Calibri"/>
              </a:defRPr>
            </a:pPr>
            <a:r>
              <a:t>2.1/4.0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5376672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資安合規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0" y="5431536"/>
            <a:ext cx="1828800" cy="128016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86000" y="5431536"/>
            <a:ext cx="1280160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913632" y="5404104"/>
            <a:ext cx="36576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06240" y="5376672"/>
            <a:ext cx="548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8B9DAF"/>
                </a:solidFill>
                <a:latin typeface="Calibri"/>
              </a:defRPr>
            </a:pPr>
            <a:r>
              <a:t>3.5/4.5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5614416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數位協作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0" y="5669279"/>
            <a:ext cx="1828800" cy="128016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286000" y="5669279"/>
            <a:ext cx="1389888" cy="12801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913632" y="5641848"/>
            <a:ext cx="36576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06240" y="5614416"/>
            <a:ext cx="548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8B9DAF"/>
                </a:solidFill>
                <a:latin typeface="Calibri"/>
              </a:defRPr>
            </a:pPr>
            <a:r>
              <a:t>3.8/4.5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" y="5852159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創新思維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0" y="5907023"/>
            <a:ext cx="1828800" cy="128016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286000" y="5907023"/>
            <a:ext cx="1060704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30752" y="5879592"/>
            <a:ext cx="36576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06240" y="5852159"/>
            <a:ext cx="548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8B9DAF"/>
                </a:solidFill>
                <a:latin typeface="Calibri"/>
              </a:defRPr>
            </a:pPr>
            <a:r>
              <a:t>2.9/4.0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" y="6089904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產業專業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0" y="6144768"/>
            <a:ext cx="1828800" cy="128016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286000" y="6144768"/>
            <a:ext cx="1316736" cy="128016"/>
          </a:xfrm>
          <a:prstGeom prst="rect">
            <a:avLst/>
          </a:prstGeom>
          <a:solidFill>
            <a:srgbClr val="E87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913632" y="6117336"/>
            <a:ext cx="36576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06240" y="6089904"/>
            <a:ext cx="548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8B9DAF"/>
                </a:solidFill>
                <a:latin typeface="Calibri"/>
              </a:defRPr>
            </a:pPr>
            <a:r>
              <a:t>3.6/4.5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4251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2DD4A8"/>
                </a:solidFill>
                <a:latin typeface="Microsoft JhengHei"/>
              </a:defRPr>
            </a:pPr>
            <a:r>
              <a:t>平台核心能力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43600" y="466344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DD4A8"/>
                </a:solidFill>
                <a:latin typeface="Microsoft JhengHei"/>
              </a:defRPr>
            </a:pPr>
            <a:r>
              <a:t>●  通用 Agent 架構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5279" y="466344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可擴展 AI 代理，多場景部署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0" y="507492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DD4A8"/>
                </a:solidFill>
                <a:latin typeface="Microsoft JhengHei"/>
              </a:defRPr>
            </a:pPr>
            <a:r>
              <a:t>●  即時分析儀表板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507492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培訓 ROI、技能趨勢、差距預警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43600" y="548640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DD4A8"/>
                </a:solidFill>
                <a:latin typeface="Microsoft JhengHei"/>
              </a:defRPr>
            </a:pPr>
            <a:r>
              <a:t>●  API 整合能力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55279" y="548640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對接 HR/LMS/ERP/CRM，SSO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0" y="5897879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DD4A8"/>
                </a:solidFill>
                <a:latin typeface="Microsoft JhengHei"/>
              </a:defRPr>
            </a:pPr>
            <a:r>
              <a:t>●  多語言支援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55279" y="5897879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繁中/簡中/英/日，在地化部署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45775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8B9DAF"/>
                </a:solidFill>
                <a:latin typeface="Calibri"/>
              </a:defRPr>
            </a:pPr>
            <a:r>
              <a:t>9 / 15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INDUSTRY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E293B"/>
                </a:solidFill>
                <a:latin typeface="Microsoft JhengHei"/>
              </a:defRPr>
            </a:pPr>
            <a:r>
              <a:t>三大產業客製化解決方案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4747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47472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108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IC 通路產業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MEDDIC / SPIN 銷售方法論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Design-in 專案管理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BOM 分析與報價系統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CRM 數位化管理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原廠關係經營工具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庫存週轉率優化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86400"/>
            <a:ext cx="329184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31089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2563EB"/>
                </a:solidFill>
                <a:latin typeface="Microsoft JhengHei"/>
              </a:defRPr>
            </a:pPr>
            <a:r>
              <a:t>適用：業務 · 採購 · 經營主管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59" y="1554480"/>
            <a:ext cx="34747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59" y="1554480"/>
            <a:ext cx="3474720" cy="731520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691640"/>
            <a:ext cx="3108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智慧物流發展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4688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IoT 感測器數據分析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9260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智慧倉儲管理系統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3832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路線優化與預測分析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8404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供應鏈可視化平台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2976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自動化揀貨系統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7548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S&amp;OP 需求預測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1999" y="5486400"/>
            <a:ext cx="329184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5532120"/>
            <a:ext cx="31089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0D9B8A"/>
                </a:solidFill>
                <a:latin typeface="Microsoft JhengHei"/>
              </a:defRPr>
            </a:pPr>
            <a:r>
              <a:t>適用：物流專員 · 倉管 · 運輸調度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554480"/>
            <a:ext cx="34747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1554480"/>
            <a:ext cx="347472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1691640"/>
            <a:ext cx="3108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通用數位轉型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4688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數位辦公工具整合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9260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數據驅動決策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3832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AI 協作工作流程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8404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數位專案管理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2976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資安合規實務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7548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領導力數位化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5486400"/>
            <a:ext cx="329184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5532120"/>
            <a:ext cx="31089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59E0B"/>
                </a:solidFill>
                <a:latin typeface="Microsoft JhengHei"/>
              </a:defRPr>
            </a:pPr>
            <a:r>
              <a:t>適用：全體員工 · 部門主管 · HR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45775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三重營收引擎 × 多公司訂閱模式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474720" cy="292608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4747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培訓授權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288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2563EB"/>
                </a:solidFill>
                <a:latin typeface="Microsoft JhengHei"/>
              </a:defRPr>
            </a:pPr>
            <a:r>
              <a:t>驅・知 Learn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240280"/>
            <a:ext cx="3108960" cy="914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課程設計 × 授權費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企業培訓專案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每人每月 $15-30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定期內容更新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3749039"/>
            <a:ext cx="7315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3749039"/>
            <a:ext cx="7315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59" y="1554480"/>
            <a:ext cx="3474720" cy="292608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59" y="155448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78308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陪跑教練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19" y="18288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10B981"/>
                </a:solidFill>
                <a:latin typeface="Microsoft JhengHei"/>
              </a:defRPr>
            </a:pPr>
            <a:r>
              <a:t>驅・伴 Coach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2240280"/>
            <a:ext cx="3108960" cy="914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37744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1:1 / 團隊教練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74320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AI Agent 月訂閱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10896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績效導向計費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47472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長期顧問合約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3749039"/>
            <a:ext cx="73152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749039"/>
            <a:ext cx="7315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554480"/>
            <a:ext cx="3474720" cy="292608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1554480"/>
            <a:ext cx="34747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178308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平台訂閱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18288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F59E0B"/>
                </a:solidFill>
                <a:latin typeface="Microsoft JhengHei"/>
              </a:defRPr>
            </a:pPr>
            <a:r>
              <a:t>驅・效 Boost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2240280"/>
            <a:ext cx="3108960" cy="914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237744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SaaS 月/年訂閱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74320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按模組 × 人數計費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10896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API / 整合加值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47472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數據分析加值服務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98480" y="3749039"/>
            <a:ext cx="73152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98480" y="3749039"/>
            <a:ext cx="7315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754880"/>
            <a:ext cx="10698480" cy="182880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" y="4754880"/>
            <a:ext cx="54864" cy="1828800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484632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2DD4A8"/>
                </a:solidFill>
                <a:latin typeface="Microsoft JhengHei"/>
              </a:defRPr>
            </a:pPr>
            <a:r>
              <a:t>定價方案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7280" y="5257800"/>
            <a:ext cx="2331720" cy="1005840"/>
          </a:xfrm>
          <a:prstGeom prst="rect">
            <a:avLst/>
          </a:prstGeom>
          <a:solidFill>
            <a:srgbClr val="1A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97280" y="5257800"/>
            <a:ext cx="2331720" cy="54864"/>
          </a:xfrm>
          <a:prstGeom prst="rect">
            <a:avLst/>
          </a:prstGeom>
          <a:solidFill>
            <a:srgbClr val="8B9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34439" y="539496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Free — 免費試用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4439" y="566928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8B9DAF"/>
                </a:solidFill>
                <a:latin typeface="Calibri"/>
              </a:defRPr>
            </a:pPr>
            <a:r>
              <a:t>30 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34439" y="5943600"/>
            <a:ext cx="2011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Microsoft JhengHei"/>
              </a:defRPr>
            </a:pPr>
            <a:r>
              <a:t>最多 5 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03320" y="5257800"/>
            <a:ext cx="2331720" cy="1005840"/>
          </a:xfrm>
          <a:prstGeom prst="rect">
            <a:avLst/>
          </a:prstGeom>
          <a:solidFill>
            <a:srgbClr val="1A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03320" y="5257800"/>
            <a:ext cx="23317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0" y="539496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Starter — 入門方案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0" y="566928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$15/人/月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0" y="5943600"/>
            <a:ext cx="2011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Microsoft JhengHei"/>
              </a:defRPr>
            </a:pPr>
            <a:r>
              <a:t>最多 50 人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5257800"/>
            <a:ext cx="2331720" cy="1005840"/>
          </a:xfrm>
          <a:prstGeom prst="rect">
            <a:avLst/>
          </a:prstGeom>
          <a:solidFill>
            <a:srgbClr val="1A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09360" y="5257800"/>
            <a:ext cx="2331720" cy="54864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539496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Pro — 專業方案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566928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D9B8A"/>
                </a:solidFill>
                <a:latin typeface="Calibri"/>
              </a:defRPr>
            </a:pPr>
            <a:r>
              <a:t>$30/人/月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5943600"/>
            <a:ext cx="2011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Microsoft JhengHei"/>
              </a:defRPr>
            </a:pPr>
            <a:r>
              <a:t>最多 500 人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15400" y="5257800"/>
            <a:ext cx="2331720" cy="1005840"/>
          </a:xfrm>
          <a:prstGeom prst="rect">
            <a:avLst/>
          </a:prstGeom>
          <a:solidFill>
            <a:srgbClr val="1A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15400" y="5257800"/>
            <a:ext cx="2331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52560" y="539496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Enterprise — 企業方案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0" y="566928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客製報價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0" y="5943600"/>
            <a:ext cx="2011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Microsoft JhengHei"/>
              </a:defRPr>
            </a:pPr>
            <a:r>
              <a:t>最多 無上限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5775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8B9DAF"/>
                </a:solidFill>
                <a:latin typeface="Calibri"/>
              </a:defRPr>
            </a:pPr>
            <a:r>
              <a:t>11 / 15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E293B"/>
                </a:solidFill>
                <a:latin typeface="Microsoft JhengHei"/>
              </a:defRPr>
            </a:pPr>
            <a:r>
              <a:t>三年財務預測與關鍵指標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71323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營收預測 (USD)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67665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8B9DAF"/>
                </a:solidFill>
                <a:latin typeface="Calibr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2606040" y="210312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0312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10312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Year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培訓授權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46888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$600K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6888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$1.8M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46888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$4.2M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88036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陪跑教練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88036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$420K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88036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$1.2M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88036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$3.0M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29184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平台訂閱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29184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$180K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29184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$800K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29184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$2.8M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657600"/>
            <a:ext cx="67665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74904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E293B"/>
                </a:solidFill>
                <a:latin typeface="Microsoft JhengHei"/>
              </a:defRPr>
            </a:pPr>
            <a:r>
              <a:t>總營收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374904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$1.2M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74904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$3.8M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374904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$10M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1480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E293B"/>
                </a:solidFill>
                <a:latin typeface="Microsoft JhengHei"/>
              </a:defRPr>
            </a:pPr>
            <a:r>
              <a:t>毛利率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411480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D9B8A"/>
                </a:solidFill>
                <a:latin typeface="Calibri"/>
              </a:defRPr>
            </a:pPr>
            <a:r>
              <a:t>55%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11480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D9B8A"/>
                </a:solidFill>
                <a:latin typeface="Calibri"/>
              </a:defRPr>
            </a:pPr>
            <a:r>
              <a:t>65%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411480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D9B8A"/>
                </a:solidFill>
                <a:latin typeface="Calibri"/>
              </a:defRPr>
            </a:pPr>
            <a:r>
              <a:t>72%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52628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E293B"/>
                </a:solidFill>
                <a:latin typeface="Microsoft JhengHei"/>
              </a:defRPr>
            </a:pPr>
            <a:r>
              <a:t>淨利率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52628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E87B35"/>
                </a:solidFill>
                <a:latin typeface="Calibri"/>
              </a:defRPr>
            </a:pPr>
            <a:r>
              <a:t>-15%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452628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E87B35"/>
                </a:solidFill>
                <a:latin typeface="Calibri"/>
              </a:defRPr>
            </a:pPr>
            <a:r>
              <a:t>18%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452628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E87B35"/>
                </a:solidFill>
                <a:latin typeface="Calibri"/>
              </a:defRPr>
            </a:pPr>
            <a:r>
              <a:t>32%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554480"/>
            <a:ext cx="32004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16916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關鍵指標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0" y="2011680"/>
            <a:ext cx="27432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219456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4748B"/>
                </a:solidFill>
                <a:latin typeface="Microsoft JhengHei"/>
              </a:defRPr>
            </a:pPr>
            <a:r>
              <a:t>首年客戶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219456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30 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260604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4748B"/>
                </a:solidFill>
                <a:latin typeface="Microsoft JhengHei"/>
              </a:defRPr>
            </a:pPr>
            <a:r>
              <a:t>Y3 客戶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260604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1">
                <a:solidFill>
                  <a:srgbClr val="0D9B8A"/>
                </a:solidFill>
                <a:latin typeface="Calibri"/>
              </a:defRPr>
            </a:pPr>
            <a:r>
              <a:t>200+ 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301752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4748B"/>
                </a:solidFill>
                <a:latin typeface="Microsoft JhengHei"/>
              </a:defRPr>
            </a:pPr>
            <a:r>
              <a:t>平均客單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301752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$40K/年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342900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4748B"/>
                </a:solidFill>
                <a:latin typeface="Microsoft JhengHei"/>
              </a:defRPr>
            </a:pPr>
            <a:r>
              <a:t>客戶 LTV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342900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$180K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384048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4748B"/>
                </a:solidFill>
                <a:latin typeface="Microsoft JhengHei"/>
              </a:defRPr>
            </a:pPr>
            <a:r>
              <a:t>CAC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384048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1">
                <a:solidFill>
                  <a:srgbClr val="E87B35"/>
                </a:solidFill>
                <a:latin typeface="Calibri"/>
              </a:defRPr>
            </a:pPr>
            <a:r>
              <a:t>$8K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425196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4748B"/>
                </a:solidFill>
                <a:latin typeface="Microsoft JhengHei"/>
              </a:defRPr>
            </a:pPr>
            <a:r>
              <a:t>LTV/CAC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425196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1">
                <a:solidFill>
                  <a:srgbClr val="2DD4A8"/>
                </a:solidFill>
                <a:latin typeface="Calibri"/>
              </a:defRPr>
            </a:pPr>
            <a:r>
              <a:t>22.5x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466344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4748B"/>
                </a:solidFill>
                <a:latin typeface="Microsoft JhengHei"/>
              </a:defRPr>
            </a:pPr>
            <a:r>
              <a:t>Churn Rate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75520" y="466344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1">
                <a:solidFill>
                  <a:srgbClr val="EF4444"/>
                </a:solidFill>
                <a:latin typeface="Calibri"/>
              </a:defRPr>
            </a:pPr>
            <a:r>
              <a:t>&lt;5%/年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507492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4748B"/>
                </a:solidFill>
                <a:latin typeface="Microsoft JhengHei"/>
              </a:defRPr>
            </a:pPr>
            <a:r>
              <a:t>NPS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0" y="507492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1">
                <a:solidFill>
                  <a:srgbClr val="8B5CF6"/>
                </a:solidFill>
                <a:latin typeface="Calibri"/>
              </a:defRPr>
            </a:pPr>
            <a:r>
              <a:t>70+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5943600"/>
            <a:ext cx="10698480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7280" y="5943600"/>
            <a:ext cx="18288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1">
                <a:solidFill>
                  <a:srgbClr val="2DD4A8"/>
                </a:solidFill>
                <a:latin typeface="Microsoft JhengHei"/>
              </a:defRPr>
            </a:pPr>
            <a:r>
              <a:t>資金需求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26080" y="5943600"/>
            <a:ext cx="82296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種子輪 $500K (已完成)  →  Pre-A $2M (2026 Q4)  →  A 輪 $8M (2027 Q3)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45775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12 個月分階段實施路線圖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10698480" cy="45720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164592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2514600" cy="347472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2514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423160"/>
            <a:ext cx="100584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1005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Week 1-2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42316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啟動期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880360"/>
            <a:ext cx="2240280" cy="914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63240"/>
            <a:ext cx="2240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需求訪談與職能盤點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66160"/>
            <a:ext cx="2240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技能診斷系統部署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2240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多公司帳號建立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72000"/>
            <a:ext cx="2240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LEAP 框架導入</a:t>
            </a:r>
          </a:p>
        </p:txBody>
      </p:sp>
      <p:sp>
        <p:nvSpPr>
          <p:cNvPr id="17" name="Oval 16"/>
          <p:cNvSpPr/>
          <p:nvPr/>
        </p:nvSpPr>
        <p:spPr>
          <a:xfrm>
            <a:off x="4526279" y="1645920"/>
            <a:ext cx="274320" cy="274320"/>
          </a:xfrm>
          <a:prstGeom prst="ellipse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39" y="2194560"/>
            <a:ext cx="2514600" cy="347472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20439" y="2194560"/>
            <a:ext cx="2514600" cy="54864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599" y="2423160"/>
            <a:ext cx="1005840" cy="274320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599" y="2423160"/>
            <a:ext cx="1005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Week 3-12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242316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導入期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599" y="2880360"/>
            <a:ext cx="2240280" cy="914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599" y="3063240"/>
            <a:ext cx="2240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首批培訓課程上線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599" y="3566160"/>
            <a:ext cx="2240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OpenClaw 平台啟用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599" y="4069080"/>
            <a:ext cx="2240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AI Agent 教練配對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599" y="4572000"/>
            <a:ext cx="2240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驅・知模組上線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0" y="164592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2194560"/>
            <a:ext cx="2514600" cy="347472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59" y="2194560"/>
            <a:ext cx="2514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6520" y="2423160"/>
            <a:ext cx="100584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2423160"/>
            <a:ext cx="1005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Week 13-24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19" y="242316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深化期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2880360"/>
            <a:ext cx="2240280" cy="914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063240"/>
            <a:ext cx="2240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進階課程+陪跑執行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566160"/>
            <a:ext cx="2240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CRM/Pipeline 整合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069080"/>
            <a:ext cx="2240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中期 ROI 評估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572000"/>
            <a:ext cx="2240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驅・伴+驅・效上線</a:t>
            </a:r>
          </a:p>
        </p:txBody>
      </p:sp>
      <p:sp>
        <p:nvSpPr>
          <p:cNvPr id="39" name="Oval 38"/>
          <p:cNvSpPr/>
          <p:nvPr/>
        </p:nvSpPr>
        <p:spPr>
          <a:xfrm>
            <a:off x="10104119" y="164592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98280" y="2194560"/>
            <a:ext cx="2514600" cy="347472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98280" y="2194560"/>
            <a:ext cx="2514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35440" y="2423160"/>
            <a:ext cx="100584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2423160"/>
            <a:ext cx="1005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Week 25-52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78440" y="242316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成熟期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35440" y="2880360"/>
            <a:ext cx="2240280" cy="914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35440" y="3063240"/>
            <a:ext cx="2240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技能躍昇計畫啟動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3566160"/>
            <a:ext cx="2240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跨公司對標分析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4069080"/>
            <a:ext cx="2240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持續優化循環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4572000"/>
            <a:ext cx="2240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▸  年度 ROI 結算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5943600"/>
            <a:ext cx="10698480" cy="502920"/>
          </a:xfrm>
          <a:prstGeom prst="rect">
            <a:avLst/>
          </a:prstGeom>
          <a:solidFill>
            <a:srgbClr val="1A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88720" y="5971032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3M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37360" y="5971032"/>
            <a:ext cx="1371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+15% 效率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5971032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1">
                <a:solidFill>
                  <a:srgbClr val="0D9B8A"/>
                </a:solidFill>
                <a:latin typeface="Calibri"/>
              </a:defRPr>
            </a:pPr>
            <a:r>
              <a:t>6M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0" y="5971032"/>
            <a:ext cx="1371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+120% ROI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5971032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9M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79" y="5971032"/>
            <a:ext cx="1371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+180% ROI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5971032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12M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5971032"/>
            <a:ext cx="1371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+250% ROI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45775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8B9DAF"/>
                </a:solidFill>
                <a:latin typeface="Calibri"/>
              </a:defRPr>
            </a:pPr>
            <a:r>
              <a:t>13 / 15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TEAM &amp;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E293B"/>
                </a:solidFill>
                <a:latin typeface="Microsoft JhengHei"/>
              </a:defRPr>
            </a:pPr>
            <a:r>
              <a:t>核心團隊與競爭壁壘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0292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核心團隊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4663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19456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79"/>
            <a:ext cx="3657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9456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E293B"/>
                </a:solidFill>
                <a:latin typeface="Microsoft JhengHei"/>
              </a:defRPr>
            </a:pPr>
            <a:r>
              <a:t>Alvin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423160"/>
            <a:ext cx="1371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2563EB"/>
                </a:solidFill>
                <a:latin typeface="Microsoft JhengHei"/>
              </a:defRPr>
            </a:pPr>
            <a:r>
              <a:t>創辦人 / CEO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9456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4748B"/>
                </a:solidFill>
                <a:latin typeface="Microsoft JhengHei"/>
              </a:defRPr>
            </a:pPr>
            <a:r>
              <a:t>IC 產業 30 年 · AI 轉型專家</a:t>
            </a:r>
            <a:br/>
            <a:r>
              <a:t>OpenClaw 首席策略師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788920"/>
            <a:ext cx="365760" cy="365760"/>
          </a:xfrm>
          <a:prstGeom prst="ellipse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34639"/>
            <a:ext cx="3657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78892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E293B"/>
                </a:solidFill>
                <a:latin typeface="Microsoft JhengHei"/>
              </a:defRPr>
            </a:pPr>
            <a:r>
              <a:t>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017520"/>
            <a:ext cx="1371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0D9B8A"/>
                </a:solidFill>
                <a:latin typeface="Microsoft JhengHei"/>
              </a:defRPr>
            </a:pPr>
            <a:r>
              <a:t>技術長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78892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4748B"/>
                </a:solidFill>
                <a:latin typeface="Microsoft JhengHei"/>
              </a:defRPr>
            </a:pPr>
            <a:r>
              <a:t>Full-stack × AI/ML</a:t>
            </a:r>
            <a:br/>
            <a:r>
              <a:t>Supabase / SPA 架構師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338328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29000"/>
            <a:ext cx="3657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38328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E293B"/>
                </a:solidFill>
                <a:latin typeface="Microsoft JhengHei"/>
              </a:defRPr>
            </a:pPr>
            <a:r>
              <a:t>VP 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611880"/>
            <a:ext cx="1371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F59E0B"/>
                </a:solidFill>
                <a:latin typeface="Microsoft JhengHei"/>
              </a:defRPr>
            </a:pPr>
            <a:r>
              <a:t>業務副總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38328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4748B"/>
                </a:solidFill>
                <a:latin typeface="Microsoft JhengHei"/>
              </a:defRPr>
            </a:pPr>
            <a:r>
              <a:t>IC 通路業務 20 年</a:t>
            </a:r>
            <a:br/>
            <a:r>
              <a:t>客戶關係網絡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3977639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23359"/>
            <a:ext cx="3657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977639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E293B"/>
                </a:solidFill>
                <a:latin typeface="Microsoft JhengHei"/>
              </a:defRPr>
            </a:pPr>
            <a:r>
              <a:t>Head of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206240"/>
            <a:ext cx="1371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5CF6"/>
                </a:solidFill>
                <a:latin typeface="Microsoft JhengHei"/>
              </a:defRPr>
            </a:pPr>
            <a:r>
              <a:t>AI 研發主管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3977639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4748B"/>
                </a:solidFill>
                <a:latin typeface="Microsoft JhengHei"/>
              </a:defRPr>
            </a:pPr>
            <a:r>
              <a:t>NLP × 推薦系統</a:t>
            </a:r>
            <a:br/>
            <a:r>
              <a:t>OpenClaw 引擎開發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617720"/>
            <a:ext cx="4572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E293B"/>
                </a:solidFill>
                <a:latin typeface="Microsoft JhengHei"/>
              </a:defRPr>
            </a:pPr>
            <a:r>
              <a:t>顧問團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892040"/>
            <a:ext cx="4663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029200"/>
            <a:ext cx="15544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4748B"/>
                </a:solidFill>
                <a:latin typeface="Microsoft JhengHei"/>
              </a:defRPr>
            </a:pPr>
            <a:r>
              <a:t>●  IC 原廠高層 ×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5029200"/>
            <a:ext cx="15544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4748B"/>
                </a:solidFill>
                <a:latin typeface="Microsoft JhengHei"/>
              </a:defRPr>
            </a:pPr>
            <a:r>
              <a:t>●  AI 學者 ×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5029200"/>
            <a:ext cx="15544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4748B"/>
                </a:solidFill>
                <a:latin typeface="Microsoft JhengHei"/>
              </a:defRPr>
            </a:pPr>
            <a:r>
              <a:t>●  創投合夥人 × 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1554480"/>
            <a:ext cx="53035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169164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五大競爭壁壘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011680"/>
            <a:ext cx="49377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2194560"/>
            <a:ext cx="54864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219456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E293B"/>
                </a:solidFill>
                <a:latin typeface="Microsoft JhengHei"/>
              </a:defRPr>
            </a:pPr>
            <a:r>
              <a:t>產業知識壁壘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2450591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4748B"/>
                </a:solidFill>
                <a:latin typeface="Microsoft JhengHei"/>
              </a:defRPr>
            </a:pPr>
            <a:r>
              <a:t>30 年 IC 通路深耕，非通用 AI 可取代</a:t>
            </a:r>
            <a:br/>
            <a:r>
              <a:t>產業專屬課程 × 方法論 × 術語庫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017520"/>
            <a:ext cx="54864" cy="685800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301752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E293B"/>
                </a:solidFill>
                <a:latin typeface="Microsoft JhengHei"/>
              </a:defRPr>
            </a:pPr>
            <a:r>
              <a:t>AI 技術壁壘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3273552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4748B"/>
                </a:solidFill>
                <a:latin typeface="Microsoft JhengHei"/>
              </a:defRPr>
            </a:pPr>
            <a:r>
              <a:t>OpenClaw 自研引擎：智能匹配 + 自適應學習</a:t>
            </a:r>
            <a:br/>
            <a:r>
              <a:t>越多數據越精準，飛輪效應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840480"/>
            <a:ext cx="54864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384048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E293B"/>
                </a:solidFill>
                <a:latin typeface="Microsoft JhengHei"/>
              </a:defRPr>
            </a:pPr>
            <a:r>
              <a:t>網絡效應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4096512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4748B"/>
                </a:solidFill>
                <a:latin typeface="Microsoft JhengHei"/>
              </a:defRPr>
            </a:pPr>
            <a:r>
              <a:t>多公司 → 匿名化最佳實踐共享</a:t>
            </a:r>
            <a:br/>
            <a:r>
              <a:t>產業生態圈 × 人脈連結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4663440"/>
            <a:ext cx="54864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466344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E293B"/>
                </a:solidFill>
                <a:latin typeface="Microsoft JhengHei"/>
              </a:defRPr>
            </a:pPr>
            <a:r>
              <a:t>轉換成本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4919472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4748B"/>
                </a:solidFill>
                <a:latin typeface="Microsoft JhengHei"/>
              </a:defRPr>
            </a:pPr>
            <a:r>
              <a:t>深度整合企業 HR/CRM/ERP</a:t>
            </a:r>
            <a:br/>
            <a:r>
              <a:t>數據遷移成本高，黏著度強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5486400"/>
            <a:ext cx="54864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548640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E293B"/>
                </a:solidFill>
                <a:latin typeface="Microsoft JhengHei"/>
              </a:defRPr>
            </a:pPr>
            <a:r>
              <a:t>先發優勢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5742432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4748B"/>
                </a:solidFill>
                <a:latin typeface="Microsoft JhengHei"/>
              </a:defRPr>
            </a:pPr>
            <a:r>
              <a:t>IC 通路培訓 + AI 平台：市場空白</a:t>
            </a:r>
            <a:br/>
            <a:r>
              <a:t>搶占心智 × 標準制定者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45775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3771" y="0"/>
            <a:ext cx="3047923" cy="6858000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Microsoft JhengHei"/>
              </a:defRPr>
            </a:pPr>
            <a:r>
              <a:t>讓每位員工都成為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2DD4A8"/>
                </a:solidFill>
                <a:latin typeface="Microsoft JhengHei"/>
              </a:defRPr>
            </a:pPr>
            <a:r>
              <a:t>數位時代的超級戰力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8B9DAF"/>
                </a:solidFill>
                <a:latin typeface="Microsoft JhengHei"/>
              </a:defRPr>
            </a:pPr>
            <a:r>
              <a:t>技能躍昇 · 業績倍增 · 從今天開始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7315200" cy="50292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54864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18688"/>
            <a:ext cx="20116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30 年產業實戰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218688"/>
            <a:ext cx="4572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橫跨 IC 通路、智慧物流的深厚經驗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7315200" cy="50292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840480"/>
            <a:ext cx="54864" cy="502920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58768"/>
            <a:ext cx="20116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AI 原生方法論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858768"/>
            <a:ext cx="4572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LEAP + OpenClaw + 芯智驅三引擎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480560"/>
            <a:ext cx="7315200" cy="50292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48056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98848"/>
            <a:ext cx="20116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量化成果導向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498848"/>
            <a:ext cx="4572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每個環節都有 KPI，ROI 看得見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120640"/>
            <a:ext cx="7315200" cy="50292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120640"/>
            <a:ext cx="54864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138927"/>
            <a:ext cx="20116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陪跑式顧問服務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138927"/>
            <a:ext cx="4572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不只給方案，全程陪跑到落地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091" y="118872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立即預約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091" y="164592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免費諮詢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091" y="2194560"/>
            <a:ext cx="2560320" cy="9144"/>
          </a:xfrm>
          <a:prstGeom prst="rect">
            <a:avLst/>
          </a:prstGeom>
          <a:solidFill>
            <a:srgbClr val="B0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091" y="246888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Alvin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091" y="2834640"/>
            <a:ext cx="2560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B0F0E0"/>
                </a:solidFill>
                <a:latin typeface="Calibri"/>
              </a:defRPr>
            </a:pPr>
            <a:r>
              <a:t>edwardko1688@gmail.com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091" y="320040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8B9DAF"/>
                </a:solidFill>
                <a:latin typeface="Microsoft JhengHei"/>
              </a:defRPr>
            </a:pPr>
            <a:r>
              <a:t>芯智驅 XinDrive AI</a:t>
            </a:r>
            <a:br/>
            <a:r>
              <a:t>× OpenClaw Consulting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091" y="3931920"/>
            <a:ext cx="2560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不忘初心</a:t>
            </a:r>
            <a:br/>
            <a:r>
              <a:t>AI倍增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091" y="484632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B0F0E0"/>
                </a:solidFill>
                <a:latin typeface="Microsoft JhengHei"/>
              </a:defRPr>
            </a:pPr>
            <a:r>
              <a:t>●  數位轉型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091" y="5166359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B0F0E0"/>
                </a:solidFill>
                <a:latin typeface="Microsoft JhengHei"/>
              </a:defRPr>
            </a:pPr>
            <a:r>
              <a:t>●  人才發展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091" y="548640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B0F0E0"/>
                </a:solidFill>
                <a:latin typeface="Microsoft JhengHei"/>
              </a:defRPr>
            </a:pPr>
            <a:r>
              <a:t>●  AI 賦能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091" y="580644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B0F0E0"/>
                </a:solidFill>
                <a:latin typeface="Microsoft JhengHei"/>
              </a:defRPr>
            </a:pPr>
            <a:r>
              <a:t>●  多公司管理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091" y="6126479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B0F0E0"/>
                </a:solidFill>
                <a:latin typeface="Microsoft JhengHei"/>
              </a:defRPr>
            </a:pPr>
            <a:r>
              <a:t>●  業績倍增教練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45775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8B9DAF"/>
                </a:solidFill>
                <a:latin typeface="Calibri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