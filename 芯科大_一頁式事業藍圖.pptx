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463040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45720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芯科大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0">
                <a:solidFill>
                  <a:srgbClr val="A0C4E8"/>
                </a:solidFill>
                <a:latin typeface="Microsoft JhengHei"/>
              </a:defRPr>
            </a:pPr>
            <a:r>
              <a:t>不忘初心、方得始終  |  培訓 · 陪跑 · 業績倍增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2860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256032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B9DAF"/>
                </a:solidFill>
                <a:latin typeface="Microsoft JhengHei"/>
              </a:defRPr>
            </a:pPr>
            <a:r>
              <a:t>芯夢想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54864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企業願景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47120" y="22860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0" y="256032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B9DAF"/>
                </a:solidFill>
                <a:latin typeface="Microsoft JhengHei"/>
              </a:defRPr>
            </a:pPr>
            <a:r>
              <a:t>芯科技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54864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科技產品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93040" y="228600"/>
            <a:ext cx="1463040" cy="64008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93040" y="228600"/>
            <a:ext cx="146304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0" y="256032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芯知識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0" y="548640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核心主軸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0" y="86868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0">
                <a:solidFill>
                  <a:srgbClr val="7B8D9F"/>
                </a:solidFill>
                <a:latin typeface="Microsoft JhengHei"/>
              </a:defRPr>
            </a:pPr>
            <a:r>
              <a:t>Alvin ·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508760"/>
            <a:ext cx="82296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600200"/>
            <a:ext cx="77724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500" b="0">
                <a:solidFill>
                  <a:srgbClr val="1E293B"/>
                </a:solidFill>
                <a:latin typeface="Microsoft JhengHei"/>
              </a:defRPr>
            </a:pPr>
            <a:r>
              <a:t>將 30 年 IC 通路實戰經驗轉化為知識管理體系，透過 AI Agent 賦能，打造可規模化的培訓 × 陪跑 × 業績倍增平台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508760"/>
            <a:ext cx="16002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54480"/>
            <a:ext cx="1600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0D9488"/>
                </a:solidFill>
                <a:latin typeface="Calibri"/>
              </a:defRPr>
            </a:pPr>
            <a:r>
              <a:t>$380B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965960"/>
            <a:ext cx="1600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475569"/>
                </a:solidFill>
                <a:latin typeface="Microsoft JhengHei"/>
              </a:defRPr>
            </a:pPr>
            <a:r>
              <a:t>全球企業培訓市場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27080" y="1508760"/>
            <a:ext cx="16002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27080" y="1554480"/>
            <a:ext cx="1600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386EDB"/>
                </a:solidFill>
                <a:latin typeface="Calibri"/>
              </a:defRPr>
            </a:pPr>
            <a:r>
              <a:t>87%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1965960"/>
            <a:ext cx="1600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475569"/>
                </a:solidFill>
                <a:latin typeface="Microsoft JhengHei"/>
              </a:defRPr>
            </a:pPr>
            <a:r>
              <a:t>企業缺乏數位人才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710160" y="1508760"/>
            <a:ext cx="16002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710160" y="1554480"/>
            <a:ext cx="1600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1">
                <a:solidFill>
                  <a:srgbClr val="EA870D"/>
                </a:solidFill>
                <a:latin typeface="Calibri"/>
              </a:defRPr>
            </a:pPr>
            <a:r>
              <a:t>250%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710160" y="1965960"/>
            <a:ext cx="1600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475569"/>
                </a:solidFill>
                <a:latin typeface="Microsoft JhengHei"/>
              </a:defRPr>
            </a:pPr>
            <a:r>
              <a:t>12 個月投資回報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51460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D9488"/>
                </a:solidFill>
                <a:latin typeface="Calibri"/>
              </a:defRPr>
            </a:pPr>
            <a:r>
              <a:t>三大核心服務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807208"/>
            <a:ext cx="109728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2971800"/>
            <a:ext cx="4315968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2971800"/>
            <a:ext cx="3950207" cy="54864"/>
          </a:xfrm>
          <a:prstGeom prst="rect">
            <a:avLst/>
          </a:prstGeom>
          <a:solidFill>
            <a:srgbClr val="386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386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3200400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培訓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6118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475569"/>
                </a:solidFill>
                <a:latin typeface="Microsoft JhengHei"/>
              </a:defRPr>
            </a:pPr>
            <a:r>
              <a:t>企業經營實戰知識體系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3886200"/>
            <a:ext cx="3675887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977639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經營管理 · 行銷業務 · CRM · SCM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306824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30 年 IC 通路實務精華課程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636007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MEDDIC / SPIN / Challenger 銷售方法論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965192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SCOR / S&amp;OP 供應鏈管理體系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1455" y="3886200"/>
            <a:ext cx="25603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65776" y="2971800"/>
            <a:ext cx="4315968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48656" y="2971800"/>
            <a:ext cx="3950207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85816" y="3246120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85816" y="324612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0176" y="3200400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陪跑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0176" y="36118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475569"/>
                </a:solidFill>
                <a:latin typeface="Microsoft JhengHei"/>
              </a:defRPr>
            </a:pPr>
            <a:r>
              <a:t>AI 教練 × 顧問陪伴式成長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85816" y="3886200"/>
            <a:ext cx="3675887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85816" y="3977639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AI Agent 虛擬教練 24/7 即時指導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85816" y="4306824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一對一 / 團隊教練 · GROW 模型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85816" y="4636007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實戰角色扮演 · 談判模擬演練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85816" y="4965192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知識管理 × 經驗傳承 × 能力認證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00032" y="3886200"/>
            <a:ext cx="256032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1">
                <a:solidFill>
                  <a:srgbClr val="0D94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74352" y="2971800"/>
            <a:ext cx="4315968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57232" y="2971800"/>
            <a:ext cx="3950207" cy="54864"/>
          </a:xfrm>
          <a:prstGeom prst="rect">
            <a:avLst/>
          </a:prstGeom>
          <a:solidFill>
            <a:srgbClr val="EA8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994392" y="3246120"/>
            <a:ext cx="457200" cy="457200"/>
          </a:xfrm>
          <a:prstGeom prst="ellipse">
            <a:avLst/>
          </a:prstGeom>
          <a:solidFill>
            <a:srgbClr val="EA8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94392" y="3246120"/>
            <a:ext cx="457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88752" y="3200400"/>
            <a:ext cx="2286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2600" b="1">
                <a:solidFill>
                  <a:srgbClr val="0F172A"/>
                </a:solidFill>
                <a:latin typeface="Microsoft JhengHei"/>
              </a:defRPr>
            </a:pPr>
            <a:r>
              <a:t>業績倍增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88752" y="361188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475569"/>
                </a:solidFill>
                <a:latin typeface="Microsoft JhengHei"/>
              </a:defRPr>
            </a:pPr>
            <a:r>
              <a:t>數據驅動的績效提升引擎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94392" y="3886200"/>
            <a:ext cx="3675887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94392" y="3977639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KPI 儀表板 · Pipeline 商機看板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94392" y="4306824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CRM 客戶經營 × 生命週期管理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94392" y="4636007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ROI 量化分析 · 對標最佳實踐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94392" y="4965192"/>
            <a:ext cx="3675887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475569"/>
                </a:solidFill>
                <a:latin typeface="Microsoft JhengHei"/>
              </a:defRPr>
            </a:pPr>
            <a:r>
              <a:t>從培訓到績效的完整閉環驗證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" y="56235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D9488"/>
                </a:solidFill>
                <a:latin typeface="Calibri"/>
              </a:defRPr>
            </a:pPr>
            <a:r>
              <a:t>營收模式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" y="5870448"/>
            <a:ext cx="91440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200" y="5989320"/>
            <a:ext cx="43159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5800" y="6172200"/>
            <a:ext cx="182880" cy="182880"/>
          </a:xfrm>
          <a:prstGeom prst="ellipse">
            <a:avLst/>
          </a:prstGeom>
          <a:solidFill>
            <a:srgbClr val="386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0120" y="6080760"/>
            <a:ext cx="1371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培訓授權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77440" y="6080760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課程設計 · 企業內訓 · 授權費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23360" y="6080760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600" b="1">
                <a:solidFill>
                  <a:srgbClr val="386EDB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72" name="Oval 71"/>
          <p:cNvSpPr/>
          <p:nvPr/>
        </p:nvSpPr>
        <p:spPr>
          <a:xfrm>
            <a:off x="685800" y="6629400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60120" y="6537960"/>
            <a:ext cx="1371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陪跑教練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7440" y="6537960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1:1 教練 · AI Agent 月訂閱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23360" y="6537960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600" b="1">
                <a:solidFill>
                  <a:srgbClr val="16A34A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76" name="Oval 75"/>
          <p:cNvSpPr/>
          <p:nvPr/>
        </p:nvSpPr>
        <p:spPr>
          <a:xfrm>
            <a:off x="685800" y="7086600"/>
            <a:ext cx="182880" cy="182880"/>
          </a:xfrm>
          <a:prstGeom prst="ellipse">
            <a:avLst/>
          </a:prstGeom>
          <a:solidFill>
            <a:srgbClr val="EA8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60120" y="6995160"/>
            <a:ext cx="1371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平台訂閱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77440" y="6995160"/>
            <a:ext cx="16459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SaaS 月/年訂閱 · API 加值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23360" y="6995160"/>
            <a:ext cx="54864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600" b="1">
                <a:solidFill>
                  <a:srgbClr val="EA870D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48656" y="56235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D9488"/>
                </a:solidFill>
                <a:latin typeface="Calibri"/>
              </a:defRPr>
            </a:pPr>
            <a:r>
              <a:t>AI Agent 賦能架構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48656" y="5870448"/>
            <a:ext cx="118872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065776" y="5989320"/>
            <a:ext cx="43159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294376" y="6108192"/>
            <a:ext cx="54864" cy="228600"/>
          </a:xfrm>
          <a:prstGeom prst="rect">
            <a:avLst/>
          </a:prstGeom>
          <a:solidFill>
            <a:srgbClr val="386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77256" y="6062472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智能診斷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20256" y="6062472"/>
            <a:ext cx="2560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0">
                <a:solidFill>
                  <a:srgbClr val="475569"/>
                </a:solidFill>
                <a:latin typeface="Microsoft JhengHei"/>
              </a:defRPr>
            </a:pPr>
            <a:r>
              <a:t>技能差距分析 · 學習路徑規劃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94376" y="6473952"/>
            <a:ext cx="54864" cy="228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477256" y="6428232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虛擬教練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20256" y="6428232"/>
            <a:ext cx="2560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0">
                <a:solidFill>
                  <a:srgbClr val="475569"/>
                </a:solidFill>
                <a:latin typeface="Microsoft JhengHei"/>
              </a:defRPr>
            </a:pPr>
            <a:r>
              <a:t>AI Agent 24/7 陪伴與指導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94376" y="6839712"/>
            <a:ext cx="54864" cy="228600"/>
          </a:xfrm>
          <a:prstGeom prst="rect">
            <a:avLst/>
          </a:prstGeom>
          <a:solidFill>
            <a:srgbClr val="EA8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77256" y="6793992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績效追蹤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20256" y="6793992"/>
            <a:ext cx="2560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0">
                <a:solidFill>
                  <a:srgbClr val="475569"/>
                </a:solidFill>
                <a:latin typeface="Microsoft JhengHei"/>
              </a:defRPr>
            </a:pPr>
            <a:r>
              <a:t>數據驅動 · ROI 量化驗證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94376" y="7205472"/>
            <a:ext cx="54864" cy="228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77256" y="7159752"/>
            <a:ext cx="10972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300" b="1">
                <a:solidFill>
                  <a:srgbClr val="0F172A"/>
                </a:solidFill>
                <a:latin typeface="Microsoft JhengHei"/>
              </a:defRPr>
            </a:pPr>
            <a:r>
              <a:t>知識庫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20256" y="7159752"/>
            <a:ext cx="25603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0">
                <a:solidFill>
                  <a:srgbClr val="475569"/>
                </a:solidFill>
                <a:latin typeface="Microsoft JhengHei"/>
              </a:defRPr>
            </a:pPr>
            <a:r>
              <a:t>30 年實務經驗數位化傳承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57232" y="562356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0D9488"/>
                </a:solidFill>
                <a:latin typeface="Calibri"/>
              </a:defRPr>
            </a:pPr>
            <a:r>
              <a:t>成長路線圖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857232" y="5870448"/>
            <a:ext cx="1005840" cy="228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9674352" y="5989320"/>
            <a:ext cx="4315968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857232" y="6080760"/>
            <a:ext cx="777240" cy="320040"/>
          </a:xfrm>
          <a:prstGeom prst="roundRect">
            <a:avLst>
              <a:gd name="adj" fmla="val 6000"/>
            </a:avLst>
          </a:prstGeom>
          <a:solidFill>
            <a:srgbClr val="386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857232" y="6080760"/>
            <a:ext cx="7772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Q1-Q2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771632" y="6080760"/>
            <a:ext cx="20116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475569"/>
                </a:solidFill>
                <a:latin typeface="Microsoft JhengHei"/>
              </a:defRPr>
            </a:pPr>
            <a:r>
              <a:t>建立知識庫 · 課程上線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874752" y="6080760"/>
            <a:ext cx="914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386EDB"/>
                </a:solidFill>
                <a:latin typeface="Calibri"/>
              </a:defRPr>
            </a:pPr>
            <a:r>
              <a:t>$1.2M Y1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857232" y="6537960"/>
            <a:ext cx="777240" cy="320040"/>
          </a:xfrm>
          <a:prstGeom prst="roundRect">
            <a:avLst>
              <a:gd name="adj" fmla="val 6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857232" y="6537960"/>
            <a:ext cx="7772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Q3-Q4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771632" y="6537960"/>
            <a:ext cx="20116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475569"/>
                </a:solidFill>
                <a:latin typeface="Microsoft JhengHei"/>
              </a:defRPr>
            </a:pPr>
            <a:r>
              <a:t>陪跑教練 · AI Agent 啟用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874752" y="6537960"/>
            <a:ext cx="914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16A34A"/>
                </a:solidFill>
                <a:latin typeface="Calibri"/>
              </a:defRPr>
            </a:pPr>
            <a:r>
              <a:t>$3.8M Y2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857232" y="6995160"/>
            <a:ext cx="777240" cy="320040"/>
          </a:xfrm>
          <a:prstGeom prst="roundRect">
            <a:avLst>
              <a:gd name="adj" fmla="val 6000"/>
            </a:avLst>
          </a:prstGeom>
          <a:solidFill>
            <a:srgbClr val="EA8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857232" y="6995160"/>
            <a:ext cx="7772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Y2+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71632" y="6995160"/>
            <a:ext cx="20116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200" b="0">
                <a:solidFill>
                  <a:srgbClr val="475569"/>
                </a:solidFill>
                <a:latin typeface="Microsoft JhengHei"/>
              </a:defRPr>
            </a:pPr>
            <a:r>
              <a:t>規模擴展 · 跨產業複製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874752" y="6995160"/>
            <a:ext cx="9144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100" b="1">
                <a:solidFill>
                  <a:srgbClr val="EA870D"/>
                </a:solidFill>
                <a:latin typeface="Calibri"/>
              </a:defRPr>
            </a:pPr>
            <a:r>
              <a:t>$10M  Y3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222992" y="6446520"/>
            <a:ext cx="18288" cy="822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0" y="7818120"/>
            <a:ext cx="14630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0080" y="7882127"/>
            <a:ext cx="4572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芯科大  |  一頁式事業藍圖 2026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15200" y="7882127"/>
            <a:ext cx="68580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1000" b="0">
                <a:solidFill>
                  <a:srgbClr val="94A3B8"/>
                </a:solidFill>
                <a:latin typeface="Microsoft JhengHei"/>
              </a:defRPr>
            </a:pPr>
            <a:r>
              <a:t>Alvin · edwardko1688@gmail.com · IC 產業顧問 30 年 · AI 轉型專家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